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4ac45957de447d" /><Relationship Type="http://schemas.openxmlformats.org/officeDocument/2006/relationships/extended-properties" Target="/docProps/app.xml" Id="R8f5b37c058d648a2" /><Relationship Type="http://schemas.openxmlformats.org/officeDocument/2006/relationships/officeDocument" Target="/ppt/presentation.xml" Id="R4f22835f9cfa43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8ad80e83e34024"/>
  </p:sldMasterIdLst>
  <p:notesMasterIdLst>
    <p:notesMasterId xmlns:r="http://schemas.openxmlformats.org/officeDocument/2006/relationships" r:id="R692f40de113241c7"/>
  </p:notesMasterIdLst>
  <p:sldIdLst>
    <p:sldId xmlns:r="http://schemas.openxmlformats.org/officeDocument/2006/relationships" id="256" r:id="R441b3a2266be49ec"/>
    <p:sldId xmlns:r="http://schemas.openxmlformats.org/officeDocument/2006/relationships" id="257" r:id="Ra9de70502d9848ed"/>
    <p:sldId xmlns:r="http://schemas.openxmlformats.org/officeDocument/2006/relationships" id="258" r:id="R6a46acab8c0545c3"/>
    <p:sldId xmlns:r="http://schemas.openxmlformats.org/officeDocument/2006/relationships" id="259" r:id="Ra4b8c6db1a88432e"/>
    <p:sldId xmlns:r="http://schemas.openxmlformats.org/officeDocument/2006/relationships" id="260" r:id="R967032a90f7548ff"/>
    <p:sldId xmlns:r="http://schemas.openxmlformats.org/officeDocument/2006/relationships" id="261" r:id="Rfecad81b99cc4ff9"/>
    <p:sldId xmlns:r="http://schemas.openxmlformats.org/officeDocument/2006/relationships" id="262" r:id="R9a72387c0b354e35"/>
    <p:sldId xmlns:r="http://schemas.openxmlformats.org/officeDocument/2006/relationships" id="263" r:id="R7908574b2a544854"/>
    <p:sldId xmlns:r="http://schemas.openxmlformats.org/officeDocument/2006/relationships" id="264" r:id="R6142a2f9944d490d"/>
    <p:sldId xmlns:r="http://schemas.openxmlformats.org/officeDocument/2006/relationships" id="265" r:id="Rac5d96e8a0ef4389"/>
    <p:sldId xmlns:r="http://schemas.openxmlformats.org/officeDocument/2006/relationships" id="266" r:id="Rd54cbf3721a14c42"/>
    <p:sldId xmlns:r="http://schemas.openxmlformats.org/officeDocument/2006/relationships" id="267" r:id="Rd34183fabdf446f7"/>
    <p:sldId xmlns:r="http://schemas.openxmlformats.org/officeDocument/2006/relationships" id="268" r:id="Rec2289cb73ab4214"/>
    <p:sldId xmlns:r="http://schemas.openxmlformats.org/officeDocument/2006/relationships" id="269" r:id="R12bc1a856029441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8ad80e83e34024" /><Relationship Type="http://schemas.openxmlformats.org/officeDocument/2006/relationships/theme" Target="/ppt/theme/theme1.xml" Id="R7fff55c9cb6f440c" /><Relationship Type="http://schemas.openxmlformats.org/officeDocument/2006/relationships/notesMaster" Target="/ppt/notesMasters/notesMaster1.xml" Id="R692f40de113241c7" /><Relationship Type="http://schemas.openxmlformats.org/officeDocument/2006/relationships/presProps" Target="/ppt/presProps.xml" Id="R30a3752afa3143f0" /><Relationship Type="http://schemas.openxmlformats.org/officeDocument/2006/relationships/viewProps" Target="/ppt/viewProps.xml" Id="R826b8cf6a60249b3" /><Relationship Type="http://schemas.openxmlformats.org/officeDocument/2006/relationships/tableStyles" Target="/ppt/tableStyles.xml" Id="R34426f8411f447d3" /><Relationship Type="http://schemas.openxmlformats.org/officeDocument/2006/relationships/slide" Target="/ppt/slides/slide1.xml" Id="R441b3a2266be49ec" /><Relationship Type="http://schemas.openxmlformats.org/officeDocument/2006/relationships/slide" Target="/ppt/slides/slide2.xml" Id="Ra9de70502d9848ed" /><Relationship Type="http://schemas.openxmlformats.org/officeDocument/2006/relationships/slide" Target="/ppt/slides/slide3.xml" Id="R6a46acab8c0545c3" /><Relationship Type="http://schemas.openxmlformats.org/officeDocument/2006/relationships/slide" Target="/ppt/slides/slide4.xml" Id="Ra4b8c6db1a88432e" /><Relationship Type="http://schemas.openxmlformats.org/officeDocument/2006/relationships/slide" Target="/ppt/slides/slide5.xml" Id="R967032a90f7548ff" /><Relationship Type="http://schemas.openxmlformats.org/officeDocument/2006/relationships/slide" Target="/ppt/slides/slide6.xml" Id="Rfecad81b99cc4ff9" /><Relationship Type="http://schemas.openxmlformats.org/officeDocument/2006/relationships/slide" Target="/ppt/slides/slide7.xml" Id="R9a72387c0b354e35" /><Relationship Type="http://schemas.openxmlformats.org/officeDocument/2006/relationships/slide" Target="/ppt/slides/slide8.xml" Id="R7908574b2a544854" /><Relationship Type="http://schemas.openxmlformats.org/officeDocument/2006/relationships/slide" Target="/ppt/slides/slide9.xml" Id="R6142a2f9944d490d" /><Relationship Type="http://schemas.openxmlformats.org/officeDocument/2006/relationships/slide" Target="/ppt/slides/slide10.xml" Id="Rac5d96e8a0ef4389" /><Relationship Type="http://schemas.openxmlformats.org/officeDocument/2006/relationships/slide" Target="/ppt/slides/slide11.xml" Id="Rd54cbf3721a14c42" /><Relationship Type="http://schemas.openxmlformats.org/officeDocument/2006/relationships/slide" Target="/ppt/slides/slide12.xml" Id="Rd34183fabdf446f7" /><Relationship Type="http://schemas.openxmlformats.org/officeDocument/2006/relationships/slide" Target="/ppt/slides/slide13.xml" Id="Rec2289cb73ab4214" /><Relationship Type="http://schemas.openxmlformats.org/officeDocument/2006/relationships/slide" Target="/ppt/slides/slide14.xml" Id="R12bc1a85602944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c50dbf77de04e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95f53a2ae74ff5" /><Relationship Type="http://schemas.openxmlformats.org/officeDocument/2006/relationships/notesMaster" Target="/ppt/notesMasters/notesMaster1.xml" Id="R8c31b8593cec45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b49937dac44f8f" /><Relationship Type="http://schemas.openxmlformats.org/officeDocument/2006/relationships/notesMaster" Target="/ppt/notesMasters/notesMaster1.xml" Id="R88a9a95a9ba143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96a59b1a9e4a79" /><Relationship Type="http://schemas.openxmlformats.org/officeDocument/2006/relationships/notesMaster" Target="/ppt/notesMasters/notesMaster1.xml" Id="R7c41d3730d3446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f146864e1947b6" /><Relationship Type="http://schemas.openxmlformats.org/officeDocument/2006/relationships/notesMaster" Target="/ppt/notesMasters/notesMaster1.xml" Id="Ref882ff465fc4e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7caf84b2d9e4aa4" /><Relationship Type="http://schemas.openxmlformats.org/officeDocument/2006/relationships/notesMaster" Target="/ppt/notesMasters/notesMaster1.xml" Id="R6b4461eee9fb483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e3e44d169d4982" /><Relationship Type="http://schemas.openxmlformats.org/officeDocument/2006/relationships/notesMaster" Target="/ppt/notesMasters/notesMaster1.xml" Id="R33d929d5ceb9455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cfaafc5c84d4788" /><Relationship Type="http://schemas.openxmlformats.org/officeDocument/2006/relationships/notesMaster" Target="/ppt/notesMasters/notesMaster1.xml" Id="Rdd9ffa3a811e413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e7423142e4c4b2c" /><Relationship Type="http://schemas.openxmlformats.org/officeDocument/2006/relationships/notesMaster" Target="/ppt/notesMasters/notesMaster1.xml" Id="Rba5608c6530d476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b7137c328d64249" /><Relationship Type="http://schemas.openxmlformats.org/officeDocument/2006/relationships/notesMaster" Target="/ppt/notesMasters/notesMaster1.xml" Id="R5fe5ef837293454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d2597f61bf949ce" /><Relationship Type="http://schemas.openxmlformats.org/officeDocument/2006/relationships/notesMaster" Target="/ppt/notesMasters/notesMaster1.xml" Id="Rcc2a35c898bf473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06a8f8f2ff34aef" /><Relationship Type="http://schemas.openxmlformats.org/officeDocument/2006/relationships/notesMaster" Target="/ppt/notesMasters/notesMaster1.xml" Id="R4e469daccbce4d3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a1dc50db3a140cb" /><Relationship Type="http://schemas.openxmlformats.org/officeDocument/2006/relationships/notesMaster" Target="/ppt/notesMasters/notesMaster1.xml" Id="Rb9021cc5b489448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2604d4d8e184446" /><Relationship Type="http://schemas.openxmlformats.org/officeDocument/2006/relationships/notesMaster" Target="/ppt/notesMasters/notesMaster1.xml" Id="Rfc09541b94fd4e0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cacf83bdc134b34" /><Relationship Type="http://schemas.openxmlformats.org/officeDocument/2006/relationships/notesMaster" Target="/ppt/notesMasters/notesMaster1.xml" Id="Rcdeb061e425e45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封面：展示 SmashMate 的双视角结构，普通用户建立认知，教练端体现核心价值。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来源：README 与 PRD，突出 SmashMate 的一站式价值。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这一页作为转场，先让观众理解双视角，再进入具体演示。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真实页面：普通用户活动页。重点讲三个底部入口。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真实页面：活动列表 + 活动详情。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真实页面：教练列表与教练主页，体现普通用户如何进入服务场景。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真实页面：个人主页与战绩页。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真实页面：设置页教练模式开关。对比普通模式与教练模式导航。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真实页面：课程管理页。重点介绍四个 Tab。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真实页面：学员班列表、创建学员班弹窗、班级详情页。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真实页面：添加学员弹窗、创建课程弹窗、班级课程列表。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真实页面：我的学员列表 + 学员详情。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真实页面：学员详情、给 TA 排课弹窗、排课后出现的下节课卡片。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总结页：分别收束用户价值、教练价值与平台价值。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75c754fa9f400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AB4195D8-435E-4CF7-BBA7-E47F88CC1F8C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95A97C78-200D-4047-8A27-ABF2E682F9C3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E70F5D0-B797-4DDF-8D9E-7F3E6E14824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ADC253E-920C-4EBB-9A52-834634C16547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8BFFBD7-9451-4079-B2CA-F6C68A0D957D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ccad66d783248c2" /><Relationship Type="http://schemas.openxmlformats.org/officeDocument/2006/relationships/slideLayout" Target="/ppt/slideLayouts/slideLayout2.xml" Id="Rd867bcb5c8b848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55D39E5-F8AB-4405-8A07-2D7E1A4FE6DF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67bcb5c8b848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855799584d4262" /><Relationship Type="http://schemas.openxmlformats.org/officeDocument/2006/relationships/image" Target="/ppt/media/image.png" Id="R0b0a802c4e634d1c" /><Relationship Type="http://schemas.openxmlformats.org/officeDocument/2006/relationships/image" Target="/ppt/media/image2.png" Id="R838a9ee666b645c2" /><Relationship Type="http://schemas.openxmlformats.org/officeDocument/2006/relationships/image" Target="/ppt/media/image3.png" Id="Rcb4b9baf6c824404" /><Relationship Type="http://schemas.openxmlformats.org/officeDocument/2006/relationships/notesSlide" Target="/ppt/notesSlides/notesSlide1.xml" Id="Ra006fae0ac974a1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c4040233c34529" /><Relationship Type="http://schemas.openxmlformats.org/officeDocument/2006/relationships/notesSlide" Target="/ppt/notesSlides/notesSlide2.xml" Id="R419c92f224e342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95d6ae71a34b64" /><Relationship Type="http://schemas.openxmlformats.org/officeDocument/2006/relationships/notesSlide" Target="/ppt/notesSlides/notesSlide3.xml" Id="R7c93e74c260f479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3fed2f83b04bf7" /><Relationship Type="http://schemas.openxmlformats.org/officeDocument/2006/relationships/image" Target="/ppt/media/image4.png" Id="Rfe9c106f6fb24831" /><Relationship Type="http://schemas.openxmlformats.org/officeDocument/2006/relationships/notesSlide" Target="/ppt/notesSlides/notesSlide4.xml" Id="R9de5b98d3a9e4b4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47953386444c87" /><Relationship Type="http://schemas.openxmlformats.org/officeDocument/2006/relationships/image" Target="/ppt/media/image5.png" Id="R5ff782f5fd364acc" /><Relationship Type="http://schemas.openxmlformats.org/officeDocument/2006/relationships/image" Target="/ppt/media/image6.png" Id="R3df5386b60844067" /><Relationship Type="http://schemas.openxmlformats.org/officeDocument/2006/relationships/notesSlide" Target="/ppt/notesSlides/notesSlide5.xml" Id="R84950247dd1346a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921afc03e64dae" /><Relationship Type="http://schemas.openxmlformats.org/officeDocument/2006/relationships/image" Target="/ppt/media/image7.png" Id="R115655cb876249a7" /><Relationship Type="http://schemas.openxmlformats.org/officeDocument/2006/relationships/image" Target="/ppt/media/image8.png" Id="Rb69b8d4af23e4acb" /><Relationship Type="http://schemas.openxmlformats.org/officeDocument/2006/relationships/notesSlide" Target="/ppt/notesSlides/notesSlide6.xml" Id="Rbaf8c58aa202451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ab42cf41fe4491" /><Relationship Type="http://schemas.openxmlformats.org/officeDocument/2006/relationships/image" Target="/ppt/media/image9.png" Id="Rd6713b4aabe540b7" /><Relationship Type="http://schemas.openxmlformats.org/officeDocument/2006/relationships/image" Target="/ppt/media/image10.png" Id="R9a9f7b3bcb4f4514" /><Relationship Type="http://schemas.openxmlformats.org/officeDocument/2006/relationships/notesSlide" Target="/ppt/notesSlides/notesSlide7.xml" Id="R3bf0cadecac9453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dc3e02099349c2" /><Relationship Type="http://schemas.openxmlformats.org/officeDocument/2006/relationships/image" Target="/ppt/media/image11.png" Id="R99d8f43884a64671" /><Relationship Type="http://schemas.openxmlformats.org/officeDocument/2006/relationships/notesSlide" Target="/ppt/notesSlides/notesSlide8.xml" Id="R16b5c4b34b3a483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f222bbd08f46a0" /><Relationship Type="http://schemas.openxmlformats.org/officeDocument/2006/relationships/image" Target="/ppt/media/image12.png" Id="R2482cfde92c14f3d" /><Relationship Type="http://schemas.openxmlformats.org/officeDocument/2006/relationships/notesSlide" Target="/ppt/notesSlides/notesSlide9.xml" Id="R3527b5e956694f8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d7e3a050d24945" /><Relationship Type="http://schemas.openxmlformats.org/officeDocument/2006/relationships/image" Target="/ppt/media/image13.png" Id="Rbdf40a398f7d4cbb" /><Relationship Type="http://schemas.openxmlformats.org/officeDocument/2006/relationships/image" Target="/ppt/media/image14.png" Id="R7fd84e340dd44af4" /><Relationship Type="http://schemas.openxmlformats.org/officeDocument/2006/relationships/image" Target="/ppt/media/image15.png" Id="Rc310005a515845dd" /><Relationship Type="http://schemas.openxmlformats.org/officeDocument/2006/relationships/notesSlide" Target="/ppt/notesSlides/notesSlide10.xml" Id="Raf0a52b91f53466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0e0192df204cb3" /><Relationship Type="http://schemas.openxmlformats.org/officeDocument/2006/relationships/image" Target="/ppt/media/image16.png" Id="R8462986ef7e7483a" /><Relationship Type="http://schemas.openxmlformats.org/officeDocument/2006/relationships/image" Target="/ppt/media/image17.png" Id="Rc587ab491fea4455" /><Relationship Type="http://schemas.openxmlformats.org/officeDocument/2006/relationships/image" Target="/ppt/media/image18.png" Id="R3590093ee2fd4f22" /><Relationship Type="http://schemas.openxmlformats.org/officeDocument/2006/relationships/notesSlide" Target="/ppt/notesSlides/notesSlide11.xml" Id="Rfe1f1794140043e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1d8ab47de34135" /><Relationship Type="http://schemas.openxmlformats.org/officeDocument/2006/relationships/image" Target="/ppt/media/image19.png" Id="R71bea9920181452a" /><Relationship Type="http://schemas.openxmlformats.org/officeDocument/2006/relationships/image" Target="/ppt/media/image20.png" Id="R83a573294b55423b" /><Relationship Type="http://schemas.openxmlformats.org/officeDocument/2006/relationships/notesSlide" Target="/ppt/notesSlides/notesSlide12.xml" Id="R93f8ad10a69d4bd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922ad056f24918" /><Relationship Type="http://schemas.openxmlformats.org/officeDocument/2006/relationships/image" Target="/ppt/media/image21.png" Id="R7588874c25e24eab" /><Relationship Type="http://schemas.openxmlformats.org/officeDocument/2006/relationships/image" Target="/ppt/media/image22.png" Id="R0339025a5cf141f8" /><Relationship Type="http://schemas.openxmlformats.org/officeDocument/2006/relationships/image" Target="/ppt/media/image23.png" Id="R0af45efb569b4f2b" /><Relationship Type="http://schemas.openxmlformats.org/officeDocument/2006/relationships/notesSlide" Target="/ppt/notesSlides/notesSlide13.xml" Id="Re37dba312e5741e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1862e68aeb440f" /><Relationship Type="http://schemas.openxmlformats.org/officeDocument/2006/relationships/image" Target="/ppt/media/image24.png" Id="Rc6d2c62547fc4a85" /><Relationship Type="http://schemas.openxmlformats.org/officeDocument/2006/relationships/image" Target="/ppt/media/image25.png" Id="R797c63ec18964181" /><Relationship Type="http://schemas.openxmlformats.org/officeDocument/2006/relationships/notesSlide" Target="/ppt/notesSlides/notesSlide14.xml" Id="R1978aa364b1946a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6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8BFFBD7-9451-4079-B2CA-F6C68A0D95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B9E24C-623B-47C3-ACDB-CB547A8C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1430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>
              <a:alpha val="14118"/>
            </a:srgbClr>
          </a:solidFill>
          <a:ln xmlns:a="http://schemas.openxmlformats.org/drawingml/2006/main" w="0">
            <a:solidFill>
              <a:srgbClr val="39D98A">
                <a:alpha val="14118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82CF5F-8A78-4D2B-8599-2A973CD9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-571500"/>
            <a:ext cx="36195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>
              <a:alpha val="9412"/>
            </a:srgbClr>
          </a:solidFill>
          <a:ln xmlns:a="http://schemas.openxmlformats.org/drawingml/2006/main" w="0">
            <a:solidFill>
              <a:srgbClr val="FFD166">
                <a:alpha val="9412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6FE9D7-FEFF-4F15-970A-A2378493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7625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D8A5">
              <a:alpha val="7843"/>
            </a:srgbClr>
          </a:solidFill>
          <a:ln xmlns:a="http://schemas.openxmlformats.org/drawingml/2006/main" w="0">
            <a:solidFill>
              <a:srgbClr val="61D8A5">
                <a:alpha val="7843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AF8ECF-E481-433C-B0EB-1ADDA380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11087100" cy="579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A14">
              <a:alpha val="93333"/>
            </a:srgbClr>
          </a:solidFill>
          <a:ln xmlns:a="http://schemas.openxmlformats.org/drawingml/2006/main" w="0">
            <a:solidFill>
              <a:srgbClr val="081A14">
                <a:alpha val="93333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7B0999-B719-4D79-BB01-D5525F64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5725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FFCE"/>
                </a:solidFill>
              </a:defRPr>
            </a:pPr>
            <a:r>
              <a:rPr sz="1350" b="1">
                <a:solidFill>
                  <a:srgbClr val="9BFFCE"/>
                </a:solidFill>
              </a:rPr>
              <a:t>SmashMate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37307A-FD49-4B51-B4A6-7282CBFDA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57300"/>
            <a:ext cx="4000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FF9"/>
                </a:solidFill>
              </a:defRPr>
            </a:pPr>
            <a:r>
              <a:rPr sz="3600" b="1">
                <a:solidFill>
                  <a:srgbClr val="F4FFF9"/>
                </a:solidFill>
              </a:rPr>
              <a:t>羽约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57634C-DF68-456F-B160-3ACAEF3F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438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F0E2"/>
                </a:solidFill>
              </a:defRPr>
            </a:pPr>
            <a:r>
              <a:rPr sz="1800" b="1">
                <a:solidFill>
                  <a:srgbClr val="F6F0E2"/>
                </a:solidFill>
              </a:rPr>
              <a:t>产品介绍与用户 / 教练操作指引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0B2DAE-DB00-4353-9CD5-BC5C3EDB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4476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6D4C7"/>
                </a:solidFill>
              </a:defRPr>
            </a:pPr>
            <a:r>
              <a:rPr sz="1425" b="0">
                <a:solidFill>
                  <a:srgbClr val="B6D4C7"/>
                </a:solidFill>
              </a:rPr>
              <a:t>一站式连接羽毛球约球、找教练、课程管理与成长记录，</a:t>
            </a:r>
          </a:p>
          <a:p xmlns:a="http://schemas.openxmlformats.org/drawingml/2006/main">
            <a:pPr algn="l">
              <a:defRPr sz="1425" b="0">
                <a:solidFill>
                  <a:srgbClr val="B6D4C7"/>
                </a:solidFill>
              </a:defRPr>
            </a:pPr>
            <a:r>
              <a:rPr sz="1425" b="0">
                <a:solidFill>
                  <a:srgbClr val="B6D4C7"/>
                </a:solidFill>
              </a:rPr>
              <a:t>把分散在群聊里的流程，整理成清晰、可追踪、可运营的产品体验。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861A68-9EFA-49C4-97A3-B6486730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1219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61D8A5"/>
          </a:solidFill>
          <a:ln xmlns:a="http://schemas.openxmlformats.org/drawingml/2006/main" w="0">
            <a:solidFill>
              <a:srgbClr val="61D8A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81FC62-7555-4B93-B282-81701AE7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57675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2218"/>
                </a:solidFill>
              </a:defRPr>
            </a:pPr>
            <a:r>
              <a:rPr sz="900" b="1">
                <a:solidFill>
                  <a:srgbClr val="0C2218"/>
                </a:solidFill>
              </a:rPr>
              <a:t>普通用户视角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A3B357-51C3-4489-B973-E521E7A39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191000"/>
            <a:ext cx="1219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6D97A9-1611-4B49-A024-903ABD8F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257675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2218"/>
                </a:solidFill>
              </a:defRPr>
            </a:pPr>
            <a:r>
              <a:rPr sz="900" b="1">
                <a:solidFill>
                  <a:srgbClr val="0C2218"/>
                </a:solidFill>
              </a:rPr>
              <a:t>教练工作台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000F34-0726-47BE-9A1F-D86A38C1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01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7CDBD"/>
                </a:solidFill>
              </a:defRPr>
            </a:pPr>
            <a:r>
              <a:rPr sz="1125" b="0">
                <a:solidFill>
                  <a:srgbClr val="A7CDBD"/>
                </a:solidFill>
              </a:rPr>
              <a:t>演示内容覆盖真实移动端页面与核心操作路径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D51F90-EA5D-4463-8CF5-CD75741F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990600"/>
            <a:ext cx="15811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0000"/>
            </a:srgbClr>
          </a:solidFill>
          <a:ln xmlns:a="http://schemas.openxmlformats.org/drawingml/2006/main" w="0">
            <a:solidFill>
              <a:srgbClr val="000000">
                <a:alpha val="4000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EE064A-3ABB-4F18-801C-90159D7A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895350"/>
            <a:ext cx="1581150" cy="335280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0A0F0D"/>
          </a:solidFill>
          <a:ln xmlns:a="http://schemas.openxmlformats.org/drawingml/2006/main" w="0">
            <a:solidFill>
              <a:srgbClr val="2D2D2D"/>
            </a:solidFill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0a802c4e634d1c"/>
          <a:stretch xmlns:a="http://schemas.openxmlformats.org/drawingml/2006/main"/>
        </p:blipFill>
        <p:spPr>
          <a:xfrm xmlns:a="http://schemas.openxmlformats.org/drawingml/2006/main">
            <a:off x="6210300" y="1105627"/>
            <a:ext cx="1352550" cy="2932246"/>
          </a:xfrm>
          <a:prstGeom xmlns:a="http://schemas.openxmlformats.org/drawingml/2006/main" prst="round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6D6636-92FC-4192-B545-6059B7C0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971550"/>
            <a:ext cx="76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B"/>
          </a:solidFill>
          <a:ln xmlns:a="http://schemas.openxmlformats.org/drawingml/2006/main" w="0">
            <a:solidFill>
              <a:srgbClr val="1B1B1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9A53F1-5CCC-400D-8156-3E8D73E4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838200"/>
            <a:ext cx="173355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0000"/>
            </a:srgbClr>
          </a:solidFill>
          <a:ln xmlns:a="http://schemas.openxmlformats.org/drawingml/2006/main" w="0">
            <a:solidFill>
              <a:srgbClr val="000000">
                <a:alpha val="4000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9DAD26-3676-4C97-9A07-E61C9AFA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742950"/>
            <a:ext cx="1733550" cy="365760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0A0F0D"/>
          </a:solidFill>
          <a:ln xmlns:a="http://schemas.openxmlformats.org/drawingml/2006/main" w="0">
            <a:solidFill>
              <a:srgbClr val="2D2D2D"/>
            </a:solidFill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8a9ee666b645c2"/>
          <a:stretch xmlns:a="http://schemas.openxmlformats.org/drawingml/2006/main"/>
        </p:blipFill>
        <p:spPr>
          <a:xfrm xmlns:a="http://schemas.openxmlformats.org/drawingml/2006/main">
            <a:off x="8058150" y="940430"/>
            <a:ext cx="1504950" cy="3262640"/>
          </a:xfrm>
          <a:prstGeom xmlns:a="http://schemas.openxmlformats.org/drawingml/2006/main" prst="round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AE4B0D-7D9F-4E2A-BE5F-B1658E01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819150"/>
            <a:ext cx="76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B"/>
          </a:solidFill>
          <a:ln xmlns:a="http://schemas.openxmlformats.org/drawingml/2006/main" w="0">
            <a:solidFill>
              <a:srgbClr val="1B1B1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F5178E-251E-41B5-BF68-A37F2577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333500"/>
            <a:ext cx="16002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0000"/>
            </a:srgbClr>
          </a:solidFill>
          <a:ln xmlns:a="http://schemas.openxmlformats.org/drawingml/2006/main" w="0">
            <a:solidFill>
              <a:srgbClr val="000000">
                <a:alpha val="40000"/>
              </a:srgbClr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076D88-38C2-4475-856F-1782ED07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238250"/>
            <a:ext cx="1600200" cy="33909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A0F0D"/>
          </a:solidFill>
          <a:ln xmlns:a="http://schemas.openxmlformats.org/drawingml/2006/main" w="0">
            <a:solidFill>
              <a:srgbClr val="2D2D2D"/>
            </a:solidFill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4b9baf6c824404"/>
          <a:stretch xmlns:a="http://schemas.openxmlformats.org/drawingml/2006/main"/>
        </p:blipFill>
        <p:spPr>
          <a:xfrm xmlns:a="http://schemas.openxmlformats.org/drawingml/2006/main">
            <a:off x="9848850" y="1446927"/>
            <a:ext cx="1371600" cy="2973545"/>
          </a:xfrm>
          <a:prstGeom xmlns:a="http://schemas.openxmlformats.org/drawingml/2006/main" prst="round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4F27DF-30F5-4ED9-9E57-F147A4B7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314450"/>
            <a:ext cx="76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B"/>
          </a:solidFill>
          <a:ln xmlns:a="http://schemas.openxmlformats.org/drawingml/2006/main" w="0">
            <a:solidFill>
              <a:srgbClr val="1B1B1B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6630BF-DF0E-4F7B-9687-B7408FC9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819650"/>
            <a:ext cx="5524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3125"/>
          </a:solidFill>
          <a:ln xmlns:a="http://schemas.openxmlformats.org/drawingml/2006/main" w="0">
            <a:solidFill>
              <a:srgbClr val="2D5E4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BA6947-E884-4119-BC2E-EE8FE64E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0292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BFFCE"/>
                </a:solidFill>
              </a:defRPr>
            </a:pPr>
            <a:r>
              <a:rPr sz="1050" b="1">
                <a:solidFill>
                  <a:srgbClr val="9BFFCE"/>
                </a:solidFill>
              </a:rPr>
              <a:t>核心叙事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719EB6-99C4-476C-8C6B-FCF01C2B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314950"/>
            <a:ext cx="4914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0E2"/>
                </a:solidFill>
              </a:defRPr>
            </a:pPr>
            <a:r>
              <a:rPr sz="1425" b="0">
                <a:solidFill>
                  <a:srgbClr val="F6F0E2"/>
                </a:solidFill>
              </a:rPr>
              <a:t>先从普通用户理解产品全貌，再进入教练模式看课程、学员与私教排课如何形成完整工作流。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E045AD-80CE-4E38-9C3E-21FEE34A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579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7B7A3"/>
                </a:solidFill>
              </a:defRPr>
            </a:pPr>
            <a:r>
              <a:rPr sz="750" b="0">
                <a:solidFill>
                  <a:srgbClr val="87B7A3"/>
                </a:solidFill>
              </a:rPr>
              <a:t>SmashMate · 产品介绍与操作指引</a:t>
            </a:r>
          </a:p>
        </p:txBody>
      </p:sp>
    </p:spTree>
    <p:extLst>
      <p:ext uri="{BB962C8B-B14F-4D97-AF65-F5344CB8AC3E}">
        <p14:creationId xmlns:p14="http://schemas.microsoft.com/office/powerpoint/2010/main" val="20900816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6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8BFFBD7-9451-4079-B2CA-F6C68A0D95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D2EBBC-C095-402D-8380-B3DB763B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1238250"/>
            <a:ext cx="409575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>
              <a:alpha val="12157"/>
            </a:srgbClr>
          </a:solidFill>
          <a:ln xmlns:a="http://schemas.openxmlformats.org/drawingml/2006/main" w="0">
            <a:solidFill>
              <a:srgbClr val="39D98A">
                <a:alpha val="12157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C44569-0440-43BF-AF9A-F33D714E8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572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>
              <a:alpha val="8627"/>
            </a:srgbClr>
          </a:solidFill>
          <a:ln xmlns:a="http://schemas.openxmlformats.org/drawingml/2006/main" w="0">
            <a:solidFill>
              <a:srgbClr val="FFD166">
                <a:alpha val="8627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ECC897-E10F-42ED-BC99-F0B9D23F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14350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D8A5">
              <a:alpha val="7059"/>
            </a:srgbClr>
          </a:solidFill>
          <a:ln xmlns:a="http://schemas.openxmlformats.org/drawingml/2006/main" w="0">
            <a:solidFill>
              <a:srgbClr val="61D8A5">
                <a:alpha val="7059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860211-EC4C-4F07-A96D-5EDDD653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11163300" cy="590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17">
              <a:alpha val="90196"/>
            </a:srgbClr>
          </a:solidFill>
          <a:ln xmlns:a="http://schemas.openxmlformats.org/drawingml/2006/main" w="0">
            <a:solidFill>
              <a:srgbClr val="0B1D17">
                <a:alpha val="90196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4EDB76-EC15-4F42-AC7D-F00E7A01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E4B"/>
          </a:solidFill>
          <a:ln xmlns:a="http://schemas.openxmlformats.org/drawingml/2006/main" w="0">
            <a:solidFill>
              <a:srgbClr val="2D5E4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25C6D2-AC4F-429F-BEF9-60C3FC2A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E4B"/>
          </a:solidFill>
          <a:ln xmlns:a="http://schemas.openxmlformats.org/drawingml/2006/main" w="0">
            <a:solidFill>
              <a:srgbClr val="2D5E4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826162-39DC-4ECD-887F-B05D2A76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9D98A"/>
                </a:solidFill>
              </a:defRPr>
            </a:pPr>
            <a:r>
              <a:rPr sz="900" b="1">
                <a:solidFill>
                  <a:srgbClr val="39D98A"/>
                </a:solidFill>
              </a:rPr>
              <a:t>PRODUCT OVERVIEW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A02436-1968-4399-B70F-CCFA1D02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7239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4FFF9"/>
                </a:solidFill>
              </a:defRPr>
            </a:pPr>
            <a:r>
              <a:rPr sz="2325" b="1">
                <a:solidFill>
                  <a:srgbClr val="F4FFF9"/>
                </a:solidFill>
              </a:rPr>
              <a:t>为什么是 SmashMate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FD5AA0-9F7D-4F5B-B698-843B2A61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704850"/>
            <a:ext cx="685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39D98A"/>
                </a:solidFill>
              </a:defRPr>
            </a:pPr>
            <a:r>
              <a:rPr sz="1650" b="1">
                <a:solidFill>
                  <a:srgbClr val="39D98A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3E97FB-9F0C-4628-9705-891C235F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514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6D4C7"/>
                </a:solidFill>
              </a:defRPr>
            </a:pPr>
            <a:r>
              <a:rPr sz="1350" b="0">
                <a:solidFill>
                  <a:srgbClr val="B6D4C7"/>
                </a:solidFill>
              </a:rPr>
              <a:t>它不是单点工具，而是把球友、教练、课程与战绩都放进同一条连续体验里。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07466E-2CD9-4FC3-B792-E903C2E3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33147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10261E"/>
          </a:solidFill>
          <a:ln xmlns:a="http://schemas.openxmlformats.org/drawingml/2006/main" w="0">
            <a:solidFill>
              <a:srgbClr val="2D5E4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1523C2-BEDD-43A9-82A0-18A36DA3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952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D8A5"/>
          </a:solidFill>
          <a:ln xmlns:a="http://schemas.openxmlformats.org/drawingml/2006/main" w="0">
            <a:solidFill>
              <a:srgbClr val="61D8A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54FCFF-C1DE-48C5-8830-F69E9796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2933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FF9"/>
                </a:solidFill>
              </a:defRPr>
            </a:pPr>
            <a:r>
              <a:rPr sz="1275" b="1">
                <a:solidFill>
                  <a:srgbClr val="F4FFF9"/>
                </a:solidFill>
              </a:rPr>
              <a:t>约球活动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E6F591-8680-406F-A1A3-F32A8C21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24150"/>
            <a:ext cx="29337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6D4C7"/>
                </a:solidFill>
              </a:defRPr>
            </a:pPr>
            <a:r>
              <a:rPr sz="1200" b="0">
                <a:solidFill>
                  <a:srgbClr val="B6D4C7"/>
                </a:solidFill>
              </a:rPr>
              <a:t>浏览活动、查看详情、加入参与，让线下约球从群消息变成结构化列表。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A8DB5B-4340-4897-97FD-F1F266D1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09800"/>
            <a:ext cx="33147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10261E"/>
          </a:solidFill>
          <a:ln xmlns:a="http://schemas.openxmlformats.org/drawingml/2006/main" w="0">
            <a:solidFill>
              <a:srgbClr val="2D5E4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E38D0E-8457-4808-B018-DF5C6604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09800"/>
            <a:ext cx="952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39D98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97B567-DAE1-41C7-8F97-D809F8C7E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81250"/>
            <a:ext cx="2933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FF9"/>
                </a:solidFill>
              </a:defRPr>
            </a:pPr>
            <a:r>
              <a:rPr sz="1275" b="1">
                <a:solidFill>
                  <a:srgbClr val="F4FFF9"/>
                </a:solidFill>
              </a:rPr>
              <a:t>找教练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5BE82D-BDFB-434A-BC6E-945865C07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24150"/>
            <a:ext cx="29337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6D4C7"/>
                </a:solidFill>
              </a:defRPr>
            </a:pPr>
            <a:r>
              <a:rPr sz="1200" b="0">
                <a:solidFill>
                  <a:srgbClr val="B6D4C7"/>
                </a:solidFill>
              </a:rPr>
              <a:t>查看教练主页、团课与私教入口，用户能更快完成筛选、比较与预约。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DAAFEC-11EB-4A1F-ACFC-E60E6081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09800"/>
            <a:ext cx="36576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10261E"/>
          </a:solidFill>
          <a:ln xmlns:a="http://schemas.openxmlformats.org/drawingml/2006/main" w="0">
            <a:solidFill>
              <a:srgbClr val="2D5E4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C1432B-A227-43D8-A86C-13CFD967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09800"/>
            <a:ext cx="952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4FACCF-FB3C-46FB-A96D-E36E6DD7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3276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FF9"/>
                </a:solidFill>
              </a:defRPr>
            </a:pPr>
            <a:r>
              <a:rPr sz="1275" b="1">
                <a:solidFill>
                  <a:srgbClr val="F4FFF9"/>
                </a:solidFill>
              </a:rPr>
              <a:t>成长记录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9711D9-E93A-4CD5-9CEA-97240329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24150"/>
            <a:ext cx="3276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6D4C7"/>
                </a:solidFill>
              </a:defRPr>
            </a:pPr>
            <a:r>
              <a:rPr sz="1200" b="0">
                <a:solidFill>
                  <a:srgbClr val="B6D4C7"/>
                </a:solidFill>
              </a:rPr>
              <a:t>报名课程、查看个人入口、沉淀战绩和通知，体验不止停留在一次约球。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67C667-C8EF-4380-88C8-726DFEF9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107442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0261E"/>
          </a:solidFill>
          <a:ln xmlns:a="http://schemas.openxmlformats.org/drawingml/2006/main" w="0">
            <a:solidFill>
              <a:srgbClr val="2D5E4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202E57-BB66-44D5-A4B7-3FFAB9F0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FF9"/>
                </a:solidFill>
              </a:defRPr>
            </a:pPr>
            <a:r>
              <a:rPr sz="1500" b="1">
                <a:solidFill>
                  <a:srgbClr val="F4FFF9"/>
                </a:solidFill>
              </a:rPr>
              <a:t>相较微信群的价值变化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BBDA02-A6E7-431A-A753-3B2B8B30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67250"/>
            <a:ext cx="685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0E2"/>
                </a:solidFill>
              </a:defRPr>
            </a:pPr>
            <a:r>
              <a:rPr sz="1350" b="0">
                <a:solidFill>
                  <a:srgbClr val="F6F0E2"/>
                </a:solidFill>
              </a:rPr>
              <a:t>信息不再被刷屏淹没，而是按角色、场景和状态被组织起来。</a:t>
            </a:r>
          </a:p>
          <a:p xmlns:a="http://schemas.openxmlformats.org/drawingml/2006/main">
            <a:pPr algn="l">
              <a:defRPr sz="1350" b="0">
                <a:solidFill>
                  <a:srgbClr val="F6F0E2"/>
                </a:solidFill>
              </a:defRPr>
            </a:pPr>
            <a:r>
              <a:rPr sz="1350" b="0">
                <a:solidFill>
                  <a:srgbClr val="F6F0E2"/>
                </a:solidFill>
              </a:rPr>
              <a:t>普通用户看到的是更容易发现和参与；教练看到的是更容易沉淀学员、安排课程和持续运营。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57AC37-ECA8-434A-A5C9-704C80F9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48150"/>
            <a:ext cx="3048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7362C"/>
          </a:solidFill>
          <a:ln xmlns:a="http://schemas.openxmlformats.org/drawingml/2006/main" w="0">
            <a:solidFill>
              <a:srgbClr val="2D5E4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2AE6D7-A483-48A7-8BFB-47AB6513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4577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BFFCE"/>
                </a:solidFill>
              </a:defRPr>
            </a:pPr>
            <a:r>
              <a:rPr sz="1200" b="1">
                <a:solidFill>
                  <a:srgbClr val="9BFFCE"/>
                </a:solidFill>
              </a:rPr>
              <a:t>三大关键词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A84514-9292-4D25-BF80-3046B4A2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762500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FF9"/>
                </a:solidFill>
              </a:defRPr>
            </a:pPr>
            <a:r>
              <a:rPr sz="2100" b="1">
                <a:solidFill>
                  <a:srgbClr val="F4FFF9"/>
                </a:solidFill>
              </a:rPr>
              <a:t>发现</a:t>
            </a:r>
          </a:p>
          <a:p xmlns:a="http://schemas.openxmlformats.org/drawingml/2006/main">
            <a:pPr algn="l">
              <a:defRPr sz="2100" b="1">
                <a:solidFill>
                  <a:srgbClr val="F4FFF9"/>
                </a:solidFill>
              </a:defRPr>
            </a:pPr>
            <a:r>
              <a:rPr sz="2100" b="1">
                <a:solidFill>
                  <a:srgbClr val="F4FFF9"/>
                </a:solidFill>
              </a:rPr>
              <a:t>连接</a:t>
            </a:r>
          </a:p>
          <a:p xmlns:a="http://schemas.openxmlformats.org/drawingml/2006/main">
            <a:pPr algn="l">
              <a:defRPr sz="2100" b="1">
                <a:solidFill>
                  <a:srgbClr val="F4FFF9"/>
                </a:solidFill>
              </a:defRPr>
            </a:pPr>
            <a:r>
              <a:rPr sz="2100" b="1">
                <a:solidFill>
                  <a:srgbClr val="F4FFF9"/>
                </a:solidFill>
              </a:rPr>
              <a:t>沉淀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89B4A1-1183-49CB-9F1B-A9DAE96D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579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7B7A3"/>
                </a:solidFill>
              </a:defRPr>
            </a:pPr>
            <a:r>
              <a:rPr sz="750" b="0">
                <a:solidFill>
                  <a:srgbClr val="87B7A3"/>
                </a:solidFill>
              </a:rPr>
              <a:t>SmashMate · 产品介绍与操作指引</a:t>
            </a:r>
          </a:p>
        </p:txBody>
      </p:sp>
    </p:spTree>
    <p:extLst>
      <p:ext uri="{BB962C8B-B14F-4D97-AF65-F5344CB8AC3E}">
        <p14:creationId xmlns:p14="http://schemas.microsoft.com/office/powerpoint/2010/main" val="21110481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6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8BFFBD7-9451-4079-B2CA-F6C68A0D95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F83A22-E54C-44FC-9459-5D261C41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1238250"/>
            <a:ext cx="409575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>
              <a:alpha val="12157"/>
            </a:srgbClr>
          </a:solidFill>
          <a:ln xmlns:a="http://schemas.openxmlformats.org/drawingml/2006/main" w="0">
            <a:solidFill>
              <a:srgbClr val="FFD166">
                <a:alpha val="12157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37BE5E-398A-4262-B7D9-CF7FE156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572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>
              <a:alpha val="8627"/>
            </a:srgbClr>
          </a:solidFill>
          <a:ln xmlns:a="http://schemas.openxmlformats.org/drawingml/2006/main" w="0">
            <a:solidFill>
              <a:srgbClr val="FFD166">
                <a:alpha val="8627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B34048-BA33-4F58-8AC9-B03BA5D4F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14350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D8A5">
              <a:alpha val="7059"/>
            </a:srgbClr>
          </a:solidFill>
          <a:ln xmlns:a="http://schemas.openxmlformats.org/drawingml/2006/main" w="0">
            <a:solidFill>
              <a:srgbClr val="61D8A5">
                <a:alpha val="7059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4C17A5-117C-4315-A7EF-B40AB958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11163300" cy="590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17">
              <a:alpha val="90196"/>
            </a:srgbClr>
          </a:solidFill>
          <a:ln xmlns:a="http://schemas.openxmlformats.org/drawingml/2006/main" w="0">
            <a:solidFill>
              <a:srgbClr val="0B1D17">
                <a:alpha val="90196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7FD852-FD86-422F-ACF4-6FC25ED4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E4B"/>
          </a:solidFill>
          <a:ln xmlns:a="http://schemas.openxmlformats.org/drawingml/2006/main" w="0">
            <a:solidFill>
              <a:srgbClr val="2D5E4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DB9B27-AA27-4E3A-B089-9E11E191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E4B"/>
          </a:solidFill>
          <a:ln xmlns:a="http://schemas.openxmlformats.org/drawingml/2006/main" w="0">
            <a:solidFill>
              <a:srgbClr val="2D5E4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587F84-8A7B-4FAC-9821-ED8EC9654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</a:defRPr>
            </a:pPr>
            <a:r>
              <a:rPr sz="900" b="1">
                <a:solidFill>
                  <a:srgbClr val="FFD166"/>
                </a:solidFill>
              </a:rPr>
              <a:t>ROLE MAP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3A645D-57E7-4EFE-8A2D-BE8F4948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7239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4FFF9"/>
                </a:solidFill>
              </a:defRPr>
            </a:pPr>
            <a:r>
              <a:rPr sz="2325" b="1">
                <a:solidFill>
                  <a:srgbClr val="F4FFF9"/>
                </a:solidFill>
              </a:rPr>
              <a:t>两种身份，共用同一平台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F608AC-6746-47A5-AC4F-4E1B5464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704850"/>
            <a:ext cx="685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D166"/>
                </a:solidFill>
              </a:defRPr>
            </a:pPr>
            <a:r>
              <a:rPr sz="1650" b="1">
                <a:solidFill>
                  <a:srgbClr val="FFD166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9A6E72-87EC-414F-8D8F-A57E4119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533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6D4C7"/>
                </a:solidFill>
              </a:defRPr>
            </a:pPr>
            <a:r>
              <a:rPr sz="1350" b="0">
                <a:solidFill>
                  <a:srgbClr val="B6D4C7"/>
                </a:solidFill>
              </a:rPr>
              <a:t>产品的表达重点是双角色协同：普通用户负责需求发生，教练负责服务供给与运营。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B56047-CE07-4180-A738-2C1BA477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4953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0F241E"/>
          </a:solidFill>
          <a:ln xmlns:a="http://schemas.openxmlformats.org/drawingml/2006/main" w="0">
            <a:solidFill>
              <a:srgbClr val="2D5E4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1BF9D3-FF83-43F8-AC91-C4F1E58B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81250"/>
            <a:ext cx="1219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61D8A5"/>
          </a:solidFill>
          <a:ln xmlns:a="http://schemas.openxmlformats.org/drawingml/2006/main" w="0">
            <a:solidFill>
              <a:srgbClr val="61D8A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065FD6-3DB2-42A9-8847-3F05EB65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47925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2218"/>
                </a:solidFill>
              </a:defRPr>
            </a:pPr>
            <a:r>
              <a:rPr sz="900" b="1">
                <a:solidFill>
                  <a:srgbClr val="0C2218"/>
                </a:solidFill>
              </a:rPr>
              <a:t>普通用户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EC8E08-A67A-401D-B3B0-38DCAA6A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03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FF9"/>
                </a:solidFill>
              </a:defRPr>
            </a:pPr>
            <a:r>
              <a:rPr sz="2100" b="1">
                <a:solidFill>
                  <a:srgbClr val="F4FFF9"/>
                </a:solidFill>
              </a:rPr>
              <a:t>发现与参与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654CCC-C4BF-4F77-BD80-6C258C72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95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D8A5"/>
          </a:solidFill>
          <a:ln xmlns:a="http://schemas.openxmlformats.org/drawingml/2006/main" w="0">
            <a:solidFill>
              <a:srgbClr val="61D8A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09714E-2EA2-4C2D-8B8C-2D5A6F9C0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C2218"/>
                </a:solidFill>
              </a:defRPr>
            </a:pPr>
            <a:r>
              <a:rPr sz="1050" b="1">
                <a:solidFill>
                  <a:srgbClr val="0C2218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37219E-37FE-406E-97EF-2D28B705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95650"/>
            <a:ext cx="3638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FF9"/>
                </a:solidFill>
              </a:defRPr>
            </a:pPr>
            <a:r>
              <a:rPr sz="1350" b="1">
                <a:solidFill>
                  <a:srgbClr val="F4FFF9"/>
                </a:solidFill>
              </a:rPr>
              <a:t>找活动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177AFB-9443-49B3-85E5-89E92824D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62350"/>
            <a:ext cx="3638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6D4C7"/>
                </a:solidFill>
              </a:defRPr>
            </a:pPr>
            <a:r>
              <a:rPr sz="1125" b="0">
                <a:solidFill>
                  <a:srgbClr val="B6D4C7"/>
                </a:solidFill>
              </a:rPr>
              <a:t>从活动列表快速判断时间、地点和人数，降低组织成本。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0211C0-5740-4FAF-BAFD-1B98A19A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D8A5"/>
          </a:solidFill>
          <a:ln xmlns:a="http://schemas.openxmlformats.org/drawingml/2006/main" w="0">
            <a:solidFill>
              <a:srgbClr val="61D8A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074575-9716-4D36-94F9-ECCA15E2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529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C2218"/>
                </a:solidFill>
              </a:defRPr>
            </a:pPr>
            <a:r>
              <a:rPr sz="1050" b="1">
                <a:solidFill>
                  <a:srgbClr val="0C2218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2B0C10-9BA2-4521-9DF1-1B2EC593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95750"/>
            <a:ext cx="3638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FF9"/>
                </a:solidFill>
              </a:defRPr>
            </a:pPr>
            <a:r>
              <a:rPr sz="1350" b="1">
                <a:solidFill>
                  <a:srgbClr val="F4FFF9"/>
                </a:solidFill>
              </a:rPr>
              <a:t>找教练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2D39B9-B639-4A06-9E2D-E18B2E72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62450"/>
            <a:ext cx="3638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6D4C7"/>
                </a:solidFill>
              </a:defRPr>
            </a:pPr>
            <a:r>
              <a:rPr sz="1125" b="0">
                <a:solidFill>
                  <a:srgbClr val="B6D4C7"/>
                </a:solidFill>
              </a:rPr>
              <a:t>进入教练主页看课程与私教入口，决策信息集中。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B98634-ED9E-4625-BD93-CAB0A3C8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95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D8A5"/>
          </a:solidFill>
          <a:ln xmlns:a="http://schemas.openxmlformats.org/drawingml/2006/main" w="0">
            <a:solidFill>
              <a:srgbClr val="61D8A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83A231-DAC5-40DD-A6C2-6423BA02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530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C2218"/>
                </a:solidFill>
              </a:defRPr>
            </a:pPr>
            <a:r>
              <a:rPr sz="1050" b="1">
                <a:solidFill>
                  <a:srgbClr val="0C2218"/>
                </a:solidFill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A4C9D9-5BC1-47E0-9280-38D12ACA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3638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FF9"/>
                </a:solidFill>
              </a:defRPr>
            </a:pPr>
            <a:r>
              <a:rPr sz="1350" b="1">
                <a:solidFill>
                  <a:srgbClr val="F4FFF9"/>
                </a:solidFill>
              </a:rPr>
              <a:t>管自己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E5DB0B-F50E-40AE-A47D-DA7C9E7F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62550"/>
            <a:ext cx="3638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6D4C7"/>
                </a:solidFill>
              </a:defRPr>
            </a:pPr>
            <a:r>
              <a:rPr sz="1125" b="0">
                <a:solidFill>
                  <a:srgbClr val="B6D4C7"/>
                </a:solidFill>
              </a:rPr>
              <a:t>在个人主页、报名入口和战绩页里持续回看自己的参与记录。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047CA3-391D-4620-8F7C-2C348C0B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53721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3261F"/>
          </a:solidFill>
          <a:ln xmlns:a="http://schemas.openxmlformats.org/drawingml/2006/main" w="0">
            <a:solidFill>
              <a:srgbClr val="2D5E4B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332455-6717-46BB-8ED5-AAA9EDBF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81250"/>
            <a:ext cx="1219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616446-23C0-442D-9461-6DEA491B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47925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2218"/>
                </a:solidFill>
              </a:defRPr>
            </a:pPr>
            <a:r>
              <a:rPr sz="900" b="1">
                <a:solidFill>
                  <a:srgbClr val="0C2218"/>
                </a:solidFill>
              </a:rPr>
              <a:t>教练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8C1BBE-ACC5-4598-ACDD-AE02B398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003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FF9"/>
                </a:solidFill>
              </a:defRPr>
            </a:pPr>
            <a:r>
              <a:rPr sz="2100" b="1">
                <a:solidFill>
                  <a:srgbClr val="F4FFF9"/>
                </a:solidFill>
              </a:rPr>
              <a:t>管理与运营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345FD2-0163-48A1-AE2B-FFA4B879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95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8FD715-5949-4C5B-9788-57357D1E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528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C2218"/>
                </a:solidFill>
              </a:defRPr>
            </a:pPr>
            <a:r>
              <a:rPr sz="1050" b="1">
                <a:solidFill>
                  <a:srgbClr val="0C2218"/>
                </a:solidFill>
              </a:rPr>
              <a:t>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CA6267-9071-4F20-9E31-F39D0E1F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95650"/>
            <a:ext cx="401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FF9"/>
                </a:solidFill>
              </a:defRPr>
            </a:pPr>
            <a:r>
              <a:rPr sz="1350" b="1">
                <a:solidFill>
                  <a:srgbClr val="F4FFF9"/>
                </a:solidFill>
              </a:rPr>
              <a:t>管理课程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F8B2FD-4605-4292-9299-2B2563C9B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62350"/>
            <a:ext cx="4019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6D4C7"/>
                </a:solidFill>
              </a:defRPr>
            </a:pPr>
            <a:r>
              <a:rPr sz="1125" b="0">
                <a:solidFill>
                  <a:srgbClr val="B6D4C7"/>
                </a:solidFill>
              </a:rPr>
              <a:t>团课、私教时间、私教课、学员班被收进同一个工作台。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579EE73-697C-46AC-9182-4149A50E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95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F2ACD87-6717-489A-B434-C0219D2E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529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C2218"/>
                </a:solidFill>
              </a:defRPr>
            </a:pPr>
            <a:r>
              <a:rPr sz="1050" b="1">
                <a:solidFill>
                  <a:srgbClr val="0C2218"/>
                </a:solidFill>
              </a:rPr>
              <a:t>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2573823-4BD6-4CDA-A2BA-D9F7BB83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95750"/>
            <a:ext cx="401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FF9"/>
                </a:solidFill>
              </a:defRPr>
            </a:pPr>
            <a:r>
              <a:rPr sz="1350" b="1">
                <a:solidFill>
                  <a:srgbClr val="F4FFF9"/>
                </a:solidFill>
              </a:rPr>
              <a:t>沉淀学员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47D6CA7-1128-46BA-9326-65BF6B5E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62450"/>
            <a:ext cx="4019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6D4C7"/>
                </a:solidFill>
              </a:defRPr>
            </a:pPr>
            <a:r>
              <a:rPr sz="1125" b="0">
                <a:solidFill>
                  <a:srgbClr val="B6D4C7"/>
                </a:solidFill>
              </a:rPr>
              <a:t>班级成员和我的学员形成稳定关系，而不是一次性沟通。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10DFD45-DF77-45E0-A2F4-431285A3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95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8DB29A7-66D2-41A4-A1C4-E075948F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530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C2218"/>
                </a:solidFill>
              </a:defRPr>
            </a:pPr>
            <a:r>
              <a:rPr sz="1050" b="1">
                <a:solidFill>
                  <a:srgbClr val="0C2218"/>
                </a:solidFill>
              </a:rPr>
              <a:t>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F65FEC7-BF8F-4C33-B4FA-D3F446F3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95850"/>
            <a:ext cx="401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FF9"/>
                </a:solidFill>
              </a:defRPr>
            </a:pPr>
            <a:r>
              <a:rPr sz="1350" b="1">
                <a:solidFill>
                  <a:srgbClr val="F4FFF9"/>
                </a:solidFill>
              </a:rPr>
              <a:t>持续安排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EA6A307-D34B-4C1B-B6DD-9A9DAD035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162550"/>
            <a:ext cx="4019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6D4C7"/>
                </a:solidFill>
              </a:defRPr>
            </a:pPr>
            <a:r>
              <a:rPr sz="1125" b="0">
                <a:solidFill>
                  <a:srgbClr val="B6D4C7"/>
                </a:solidFill>
              </a:rPr>
              <a:t>从学员详情直接给 TA 排课，形成高频复用动作。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CE2FC5F-0C59-4A75-AE08-8C69B821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579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7B7A3"/>
                </a:solidFill>
              </a:defRPr>
            </a:pPr>
            <a:r>
              <a:rPr sz="750" b="0">
                <a:solidFill>
                  <a:srgbClr val="87B7A3"/>
                </a:solidFill>
              </a:rPr>
              <a:t>SmashMate · 产品介绍与操作指引</a:t>
            </a:r>
          </a:p>
        </p:txBody>
      </p:sp>
    </p:spTree>
    <p:extLst>
      <p:ext uri="{BB962C8B-B14F-4D97-AF65-F5344CB8AC3E}">
        <p14:creationId xmlns:p14="http://schemas.microsoft.com/office/powerpoint/2010/main" val="1396431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6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8BFFBD7-9451-4079-B2CA-F6C68A0D95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1F154C-98E1-45F3-8756-C271A997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1238250"/>
            <a:ext cx="409575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D8A5">
              <a:alpha val="12157"/>
            </a:srgbClr>
          </a:solidFill>
          <a:ln xmlns:a="http://schemas.openxmlformats.org/drawingml/2006/main" w="0">
            <a:solidFill>
              <a:srgbClr val="61D8A5">
                <a:alpha val="12157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0FBA7E-6FBC-425F-A770-94CCDD14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572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>
              <a:alpha val="8627"/>
            </a:srgbClr>
          </a:solidFill>
          <a:ln xmlns:a="http://schemas.openxmlformats.org/drawingml/2006/main" w="0">
            <a:solidFill>
              <a:srgbClr val="FFD166">
                <a:alpha val="8627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8C679C-F552-4A5B-B86D-EE2784BC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14350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D8A5">
              <a:alpha val="7059"/>
            </a:srgbClr>
          </a:solidFill>
          <a:ln xmlns:a="http://schemas.openxmlformats.org/drawingml/2006/main" w="0">
            <a:solidFill>
              <a:srgbClr val="61D8A5">
                <a:alpha val="7059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495D23-F1DE-4768-B2D0-B70508F3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11163300" cy="590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17">
              <a:alpha val="90196"/>
            </a:srgbClr>
          </a:solidFill>
          <a:ln xmlns:a="http://schemas.openxmlformats.org/drawingml/2006/main" w="0">
            <a:solidFill>
              <a:srgbClr val="0B1D17">
                <a:alpha val="90196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2DA734-AEF2-460D-B7B9-E012F318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E4B"/>
          </a:solidFill>
          <a:ln xmlns:a="http://schemas.openxmlformats.org/drawingml/2006/main" w="0">
            <a:solidFill>
              <a:srgbClr val="2D5E4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FB4E25-689C-4788-9D54-11687961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E4B"/>
          </a:solidFill>
          <a:ln xmlns:a="http://schemas.openxmlformats.org/drawingml/2006/main" w="0">
            <a:solidFill>
              <a:srgbClr val="2D5E4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E5DB15-E3D3-4ED5-8F22-E6BCDE8C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1D8A5"/>
                </a:solidFill>
              </a:defRPr>
            </a:pPr>
            <a:r>
              <a:rPr sz="900" b="1">
                <a:solidFill>
                  <a:srgbClr val="61D8A5"/>
                </a:solidFill>
              </a:rPr>
              <a:t>USER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81270E-630E-4BDA-9B24-794B91F6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7239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4FFF9"/>
                </a:solidFill>
              </a:defRPr>
            </a:pPr>
            <a:r>
              <a:rPr sz="2325" b="1">
                <a:solidFill>
                  <a:srgbClr val="F4FFF9"/>
                </a:solidFill>
              </a:rPr>
              <a:t>普通用户首页与核心入口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AB5DEA-5A5F-447C-919E-D54C928A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704850"/>
            <a:ext cx="685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61D8A5"/>
                </a:solidFill>
              </a:defRPr>
            </a:pPr>
            <a:r>
              <a:rPr sz="1650" b="1">
                <a:solidFill>
                  <a:srgbClr val="61D8A5"/>
                </a:solidFill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D5F2B6-B2A4-42FB-AB6F-ACD20078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476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6D4C7"/>
                </a:solidFill>
              </a:defRPr>
            </a:pPr>
            <a:r>
              <a:rPr sz="1350" b="0">
                <a:solidFill>
                  <a:srgbClr val="B6D4C7"/>
                </a:solidFill>
              </a:rPr>
              <a:t>用户登录后先看到的是活动页和底部三大入口：约球、找教练、我的。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D9A080-C735-4139-B34A-458DF109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3143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0000"/>
            </a:srgbClr>
          </a:solidFill>
          <a:ln xmlns:a="http://schemas.openxmlformats.org/drawingml/2006/main" w="0">
            <a:solidFill>
              <a:srgbClr val="000000">
                <a:alpha val="4000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DD3DF0-3DA5-4AEA-A7A5-0A6045A7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57400"/>
            <a:ext cx="3143250" cy="40957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0A0F0D"/>
          </a:solidFill>
          <a:ln xmlns:a="http://schemas.openxmlformats.org/drawingml/2006/main" w="0">
            <a:solidFill>
              <a:srgbClr val="2D2D2D"/>
            </a:solidFill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9c106f6fb24831"/>
          <a:stretch xmlns:a="http://schemas.openxmlformats.org/drawingml/2006/main"/>
        </p:blipFill>
        <p:spPr>
          <a:xfrm xmlns:a="http://schemas.openxmlformats.org/drawingml/2006/main">
            <a:off x="1498879" y="2171700"/>
            <a:ext cx="1783791" cy="3867150"/>
          </a:xfrm>
          <a:prstGeom xmlns:a="http://schemas.openxmlformats.org/drawingml/2006/main" prst="round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C583AE-0667-4A49-9A0D-3CA46C54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133600"/>
            <a:ext cx="76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B"/>
          </a:solidFill>
          <a:ln xmlns:a="http://schemas.openxmlformats.org/drawingml/2006/main" w="0">
            <a:solidFill>
              <a:srgbClr val="1B1B1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9856EC-D2B9-49E2-9A6A-62E6BAC2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71700"/>
            <a:ext cx="6572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0261E"/>
          </a:solidFill>
          <a:ln xmlns:a="http://schemas.openxmlformats.org/drawingml/2006/main" w="0">
            <a:solidFill>
              <a:srgbClr val="2D5E4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1DB14F-B8C8-42FA-BAED-A9DA4F59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812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FF9"/>
                </a:solidFill>
              </a:defRPr>
            </a:pPr>
            <a:r>
              <a:rPr sz="1575" b="1">
                <a:solidFill>
                  <a:srgbClr val="F4FFF9"/>
                </a:solidFill>
              </a:rPr>
              <a:t>这页负责建立第一印象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175D4C-6F1E-4BD1-AB56-B76523D5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24150"/>
            <a:ext cx="5791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0E2"/>
                </a:solidFill>
              </a:defRPr>
            </a:pPr>
            <a:r>
              <a:rPr sz="1350" b="0">
                <a:solidFill>
                  <a:srgbClr val="F6F0E2"/>
                </a:solidFill>
              </a:rPr>
              <a:t>活动流是普通用户的默认首页，说明产品首先服务的是“发现和参与”。</a:t>
            </a:r>
          </a:p>
          <a:p xmlns:a="http://schemas.openxmlformats.org/drawingml/2006/main">
            <a:pPr algn="l">
              <a:defRPr sz="1350" b="0">
                <a:solidFill>
                  <a:srgbClr val="F6F0E2"/>
                </a:solidFill>
              </a:defRPr>
            </a:pPr>
            <a:r>
              <a:rPr sz="1350" b="0">
                <a:solidFill>
                  <a:srgbClr val="F6F0E2"/>
                </a:solidFill>
              </a:rPr>
              <a:t>底部导航把用户最常用的三类动作固定下来，不需要在复杂菜单里找入口。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8C2B55-B2F5-4C7D-BDD1-1678EA4C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00500"/>
            <a:ext cx="19812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0261E"/>
          </a:solidFill>
          <a:ln xmlns:a="http://schemas.openxmlformats.org/drawingml/2006/main" w="0">
            <a:solidFill>
              <a:srgbClr val="2D5E4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AF3156-0F5D-4FA2-906D-C6CA4045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00500"/>
            <a:ext cx="95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D8A5"/>
          </a:solidFill>
          <a:ln xmlns:a="http://schemas.openxmlformats.org/drawingml/2006/main" w="0">
            <a:solidFill>
              <a:srgbClr val="61D8A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3E4687-DB1B-4AB1-AB17-5611E1F7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171950"/>
            <a:ext cx="1600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FF9"/>
                </a:solidFill>
              </a:defRPr>
            </a:pPr>
            <a:r>
              <a:rPr sz="1275" b="1">
                <a:solidFill>
                  <a:srgbClr val="F4FFF9"/>
                </a:solidFill>
              </a:rPr>
              <a:t>约球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11EAC4-7883-492F-914B-172F1216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14850"/>
            <a:ext cx="1600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6D4C7"/>
                </a:solidFill>
              </a:defRPr>
            </a:pPr>
            <a:r>
              <a:rPr sz="1200" b="0">
                <a:solidFill>
                  <a:srgbClr val="B6D4C7"/>
                </a:solidFill>
              </a:rPr>
              <a:t>浏览活动、按时间查看、快速进入详情。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CDE337-0D23-4CB5-81D0-6EFB0253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000500"/>
            <a:ext cx="19812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0261E"/>
          </a:solidFill>
          <a:ln xmlns:a="http://schemas.openxmlformats.org/drawingml/2006/main" w="0">
            <a:solidFill>
              <a:srgbClr val="2D5E4B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2513C0-8893-4512-9F4A-160A3735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000500"/>
            <a:ext cx="95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39D98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BA39A6-6CCD-4AA7-AD4A-853297AA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171950"/>
            <a:ext cx="1600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FF9"/>
                </a:solidFill>
              </a:defRPr>
            </a:pPr>
            <a:r>
              <a:rPr sz="1275" b="1">
                <a:solidFill>
                  <a:srgbClr val="F4FFF9"/>
                </a:solidFill>
              </a:rPr>
              <a:t>找教练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02E76F-6B4B-4077-BA4B-671FDF3B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514850"/>
            <a:ext cx="1600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6D4C7"/>
                </a:solidFill>
              </a:defRPr>
            </a:pPr>
            <a:r>
              <a:rPr sz="1200" b="0">
                <a:solidFill>
                  <a:srgbClr val="B6D4C7"/>
                </a:solidFill>
              </a:rPr>
              <a:t>切换到教练列表，继续往课程和私教场景深入。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3CCCDA-45F8-4167-AE53-A0C19A5E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0005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0261E"/>
          </a:solidFill>
          <a:ln xmlns:a="http://schemas.openxmlformats.org/drawingml/2006/main" w="0">
            <a:solidFill>
              <a:srgbClr val="2D5E4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A31546-7741-4F96-9D94-CDCA417D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000500"/>
            <a:ext cx="95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6E36EB-D8D3-4F6E-BA3B-22215B2F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1719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FF9"/>
                </a:solidFill>
              </a:defRPr>
            </a:pPr>
            <a:r>
              <a:rPr sz="1275" b="1">
                <a:solidFill>
                  <a:srgbClr val="F4FFF9"/>
                </a:solidFill>
              </a:rPr>
              <a:t>我的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D28AC5-0640-4153-8F1F-F502CED9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5148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6D4C7"/>
                </a:solidFill>
              </a:defRPr>
            </a:pPr>
            <a:r>
              <a:rPr sz="1200" b="0">
                <a:solidFill>
                  <a:srgbClr val="B6D4C7"/>
                </a:solidFill>
              </a:rPr>
              <a:t>进入个人资料、报名记录和设置等个人侧入口。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916F33-6349-4291-B0EC-DB6C2829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579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7B7A3"/>
                </a:solidFill>
              </a:defRPr>
            </a:pPr>
            <a:r>
              <a:rPr sz="750" b="0">
                <a:solidFill>
                  <a:srgbClr val="87B7A3"/>
                </a:solidFill>
              </a:rPr>
              <a:t>SmashMate · 产品介绍与操作指引</a:t>
            </a:r>
          </a:p>
        </p:txBody>
      </p:sp>
    </p:spTree>
    <p:extLst>
      <p:ext uri="{BB962C8B-B14F-4D97-AF65-F5344CB8AC3E}">
        <p14:creationId xmlns:p14="http://schemas.microsoft.com/office/powerpoint/2010/main" val="14909658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6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8BFFBD7-9451-4079-B2CA-F6C68A0D95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98F78A-CC67-46AE-8608-52E7CD40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1238250"/>
            <a:ext cx="409575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D8A5">
              <a:alpha val="12157"/>
            </a:srgbClr>
          </a:solidFill>
          <a:ln xmlns:a="http://schemas.openxmlformats.org/drawingml/2006/main" w="0">
            <a:solidFill>
              <a:srgbClr val="61D8A5">
                <a:alpha val="12157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5BC39E-A234-471F-843A-A6C64A76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572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>
              <a:alpha val="8627"/>
            </a:srgbClr>
          </a:solidFill>
          <a:ln xmlns:a="http://schemas.openxmlformats.org/drawingml/2006/main" w="0">
            <a:solidFill>
              <a:srgbClr val="FFD166">
                <a:alpha val="8627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A1BC72-16E5-4BCA-B76D-16B5C263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14350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D8A5">
              <a:alpha val="7059"/>
            </a:srgbClr>
          </a:solidFill>
          <a:ln xmlns:a="http://schemas.openxmlformats.org/drawingml/2006/main" w="0">
            <a:solidFill>
              <a:srgbClr val="61D8A5">
                <a:alpha val="7059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75347E-0425-47B2-914C-BF9D0EF3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11163300" cy="590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17">
              <a:alpha val="90196"/>
            </a:srgbClr>
          </a:solidFill>
          <a:ln xmlns:a="http://schemas.openxmlformats.org/drawingml/2006/main" w="0">
            <a:solidFill>
              <a:srgbClr val="0B1D17">
                <a:alpha val="90196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5F053E-EC13-427D-99BC-99407ECCD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E4B"/>
          </a:solidFill>
          <a:ln xmlns:a="http://schemas.openxmlformats.org/drawingml/2006/main" w="0">
            <a:solidFill>
              <a:srgbClr val="2D5E4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E2F5E9-0D9F-4914-8D81-7537B310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E4B"/>
          </a:solidFill>
          <a:ln xmlns:a="http://schemas.openxmlformats.org/drawingml/2006/main" w="0">
            <a:solidFill>
              <a:srgbClr val="2D5E4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BA87A5-7CD4-45DF-AC7F-977864E5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1D8A5"/>
                </a:solidFill>
              </a:defRPr>
            </a:pPr>
            <a:r>
              <a:rPr sz="900" b="1">
                <a:solidFill>
                  <a:srgbClr val="61D8A5"/>
                </a:solidFill>
              </a:rPr>
              <a:t>USER FLOW 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1E1184-F891-4D93-B066-7D6AEE0A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7239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4FFF9"/>
                </a:solidFill>
              </a:defRPr>
            </a:pPr>
            <a:r>
              <a:rPr sz="2325" b="1">
                <a:solidFill>
                  <a:srgbClr val="F4FFF9"/>
                </a:solidFill>
              </a:rPr>
              <a:t>约球与活动参与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9CCEDA-E358-4DA3-9512-8DAAA3C0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704850"/>
            <a:ext cx="685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61D8A5"/>
                </a:solidFill>
              </a:defRPr>
            </a:pPr>
            <a:r>
              <a:rPr sz="1650" b="1">
                <a:solidFill>
                  <a:srgbClr val="61D8A5"/>
                </a:solidFill>
              </a:rPr>
              <a:t>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16C77A-721E-42F0-AF9C-AA7CCB717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533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6D4C7"/>
                </a:solidFill>
              </a:defRPr>
            </a:pPr>
            <a:r>
              <a:rPr sz="1350" b="0">
                <a:solidFill>
                  <a:srgbClr val="B6D4C7"/>
                </a:solidFill>
              </a:rPr>
              <a:t>从活动列表到活动详情，用户可以快速完成“发现一场球局并决定是否参与”。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E37729-AB65-4EF2-A168-E81A1454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23622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0000"/>
            </a:srgbClr>
          </a:solidFill>
          <a:ln xmlns:a="http://schemas.openxmlformats.org/drawingml/2006/main" w="0">
            <a:solidFill>
              <a:srgbClr val="000000">
                <a:alpha val="4000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AF6C9F-BBBC-4378-B71F-AD015CBD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362200" cy="37338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0A0F0D"/>
          </a:solidFill>
          <a:ln xmlns:a="http://schemas.openxmlformats.org/drawingml/2006/main" w="0">
            <a:solidFill>
              <a:srgbClr val="2D2D2D"/>
            </a:solidFill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f782f5fd364acc"/>
          <a:stretch xmlns:a="http://schemas.openxmlformats.org/drawingml/2006/main"/>
        </p:blipFill>
        <p:spPr>
          <a:xfrm xmlns:a="http://schemas.openxmlformats.org/drawingml/2006/main">
            <a:off x="1039432" y="2209800"/>
            <a:ext cx="1616835" cy="3505200"/>
          </a:xfrm>
          <a:prstGeom xmlns:a="http://schemas.openxmlformats.org/drawingml/2006/main" prst="round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72EFE1-8FEA-41BE-A3F4-F5DA14FA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71700"/>
            <a:ext cx="76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B"/>
          </a:solidFill>
          <a:ln xmlns:a="http://schemas.openxmlformats.org/drawingml/2006/main" w="0">
            <a:solidFill>
              <a:srgbClr val="1B1B1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3437B9-0B42-4B78-A96D-D5AC573C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90750"/>
            <a:ext cx="23622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0000"/>
            </a:srgbClr>
          </a:solidFill>
          <a:ln xmlns:a="http://schemas.openxmlformats.org/drawingml/2006/main" w="0">
            <a:solidFill>
              <a:srgbClr val="000000">
                <a:alpha val="4000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8871F7-BEEA-4035-8473-110BABC5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95500"/>
            <a:ext cx="2362200" cy="37338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0A0F0D"/>
          </a:solidFill>
          <a:ln xmlns:a="http://schemas.openxmlformats.org/drawingml/2006/main" w="0">
            <a:solidFill>
              <a:srgbClr val="2D2D2D"/>
            </a:solidFill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f5386b60844067"/>
          <a:stretch xmlns:a="http://schemas.openxmlformats.org/drawingml/2006/main"/>
        </p:blipFill>
        <p:spPr>
          <a:xfrm xmlns:a="http://schemas.openxmlformats.org/drawingml/2006/main">
            <a:off x="3649282" y="2209800"/>
            <a:ext cx="1616835" cy="3505200"/>
          </a:xfrm>
          <a:prstGeom xmlns:a="http://schemas.openxmlformats.org/drawingml/2006/main" prst="round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60AD11-91F4-4D56-89A8-BF1783E1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171700"/>
            <a:ext cx="76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B"/>
          </a:solidFill>
          <a:ln xmlns:a="http://schemas.openxmlformats.org/drawingml/2006/main" w="0">
            <a:solidFill>
              <a:srgbClr val="1B1B1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75E043-58D6-49AD-BA18-3775FDA2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95500"/>
            <a:ext cx="5219700" cy="37338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0F241E"/>
          </a:solidFill>
          <a:ln xmlns:a="http://schemas.openxmlformats.org/drawingml/2006/main" w="0">
            <a:solidFill>
              <a:srgbClr val="2D5E4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3163FA-804B-4ACF-BFA2-C47C628D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38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D8A5"/>
          </a:solidFill>
          <a:ln xmlns:a="http://schemas.openxmlformats.org/drawingml/2006/main" w="0">
            <a:solidFill>
              <a:srgbClr val="61D8A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317BFD-FF67-46D1-80A8-8988D579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955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C2218"/>
                </a:solidFill>
              </a:defRPr>
            </a:pPr>
            <a:r>
              <a:rPr sz="1050" b="1">
                <a:solidFill>
                  <a:srgbClr val="0C2218"/>
                </a:solidFill>
              </a:rPr>
              <a:t>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47BEAA-E1F0-40B5-8474-61F97BED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38400"/>
            <a:ext cx="411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FF9"/>
                </a:solidFill>
              </a:defRPr>
            </a:pPr>
            <a:r>
              <a:rPr sz="1350" b="1">
                <a:solidFill>
                  <a:srgbClr val="F4FFF9"/>
                </a:solidFill>
              </a:rPr>
              <a:t>浏览活动列表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8AF8AB-129C-41FD-B8FA-7B151717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05100"/>
            <a:ext cx="4114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6D4C7"/>
                </a:solidFill>
              </a:defRPr>
            </a:pPr>
            <a:r>
              <a:rPr sz="1125" b="0">
                <a:solidFill>
                  <a:srgbClr val="B6D4C7"/>
                </a:solidFill>
              </a:rPr>
              <a:t>看到时间、地点、人数和状态，优先完成快速筛选。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BB01F0-B734-4C3B-8DA1-E39DB9CC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76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D8A5"/>
          </a:solidFill>
          <a:ln xmlns:a="http://schemas.openxmlformats.org/drawingml/2006/main" w="0">
            <a:solidFill>
              <a:srgbClr val="61D8A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D28E3D-40EF-4C9E-B28D-3FDB576F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337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C2218"/>
                </a:solidFill>
              </a:defRPr>
            </a:pPr>
            <a:r>
              <a:rPr sz="1050" b="1">
                <a:solidFill>
                  <a:srgbClr val="0C2218"/>
                </a:solidFill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AD52FC-0854-456A-86C4-198021EF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76600"/>
            <a:ext cx="411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FF9"/>
                </a:solidFill>
              </a:defRPr>
            </a:pPr>
            <a:r>
              <a:rPr sz="1350" b="1">
                <a:solidFill>
                  <a:srgbClr val="F4FFF9"/>
                </a:solidFill>
              </a:rPr>
              <a:t>进入活动详情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345EAB-4756-4831-A607-CEE17B51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43300"/>
            <a:ext cx="4114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6D4C7"/>
                </a:solidFill>
              </a:defRPr>
            </a:pPr>
            <a:r>
              <a:rPr sz="1125" b="0">
                <a:solidFill>
                  <a:srgbClr val="B6D4C7"/>
                </a:solidFill>
              </a:rPr>
              <a:t>详情页把参与者、活动说明和后续动作聚合起来。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40513D-1206-463F-8D3B-D190EF04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14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D8A5"/>
          </a:solidFill>
          <a:ln xmlns:a="http://schemas.openxmlformats.org/drawingml/2006/main" w="0">
            <a:solidFill>
              <a:srgbClr val="61D8A5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22978A-4CB7-4AD9-8986-8BEBAEAFD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C2218"/>
                </a:solidFill>
              </a:defRPr>
            </a:pPr>
            <a:r>
              <a:rPr sz="1050" b="1">
                <a:solidFill>
                  <a:srgbClr val="0C2218"/>
                </a:solidFill>
              </a:rPr>
              <a:t>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55ABA3-C842-416F-8194-83A2816A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14800"/>
            <a:ext cx="411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FF9"/>
                </a:solidFill>
              </a:defRPr>
            </a:pPr>
            <a:r>
              <a:rPr sz="1350" b="1">
                <a:solidFill>
                  <a:srgbClr val="F4FFF9"/>
                </a:solidFill>
              </a:rPr>
              <a:t>继续互动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C02B90-7C19-4005-9C00-E6DD8A65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81500"/>
            <a:ext cx="4114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6D4C7"/>
                </a:solidFill>
              </a:defRPr>
            </a:pPr>
            <a:r>
              <a:rPr sz="1125" b="0">
                <a:solidFill>
                  <a:srgbClr val="B6D4C7"/>
                </a:solidFill>
              </a:rPr>
              <a:t>活动结束后还可以回到详情页继续录入或查看战绩。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240211-AE6B-4EF0-9835-3A23CC27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53000"/>
            <a:ext cx="45910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362C"/>
          </a:solidFill>
          <a:ln xmlns:a="http://schemas.openxmlformats.org/drawingml/2006/main" w="0">
            <a:solidFill>
              <a:srgbClr val="2D5E4B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DB7D93-2EE0-482A-B816-0A53CB9A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143500"/>
            <a:ext cx="4171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6F0E2"/>
                </a:solidFill>
              </a:defRPr>
            </a:pPr>
            <a:r>
              <a:rPr sz="1200" b="0">
                <a:solidFill>
                  <a:srgbClr val="F6F0E2"/>
                </a:solidFill>
              </a:rPr>
              <a:t>这条链路说明：SmashMate 不是单纯展示信息，而是把一场活动的前、中、后状态串起来。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680E1C-64B4-4C25-8A80-4BC5CB56A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579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7B7A3"/>
                </a:solidFill>
              </a:defRPr>
            </a:pPr>
            <a:r>
              <a:rPr sz="750" b="0">
                <a:solidFill>
                  <a:srgbClr val="87B7A3"/>
                </a:solidFill>
              </a:rPr>
              <a:t>SmashMate · 产品介绍与操作指引</a:t>
            </a:r>
          </a:p>
        </p:txBody>
      </p:sp>
    </p:spTree>
    <p:extLst>
      <p:ext uri="{BB962C8B-B14F-4D97-AF65-F5344CB8AC3E}">
        <p14:creationId xmlns:p14="http://schemas.microsoft.com/office/powerpoint/2010/main" val="12862039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6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8BFFBD7-9451-4079-B2CA-F6C68A0D95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FA7D10-76BA-48F1-8EE0-8317CB59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1238250"/>
            <a:ext cx="409575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D8A5">
              <a:alpha val="12157"/>
            </a:srgbClr>
          </a:solidFill>
          <a:ln xmlns:a="http://schemas.openxmlformats.org/drawingml/2006/main" w="0">
            <a:solidFill>
              <a:srgbClr val="61D8A5">
                <a:alpha val="12157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B21CFE-167D-46AE-92AB-31C45D044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572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>
              <a:alpha val="8627"/>
            </a:srgbClr>
          </a:solidFill>
          <a:ln xmlns:a="http://schemas.openxmlformats.org/drawingml/2006/main" w="0">
            <a:solidFill>
              <a:srgbClr val="FFD166">
                <a:alpha val="8627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05227F-1E43-4EF2-8FA6-B5BEFFE2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14350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D8A5">
              <a:alpha val="7059"/>
            </a:srgbClr>
          </a:solidFill>
          <a:ln xmlns:a="http://schemas.openxmlformats.org/drawingml/2006/main" w="0">
            <a:solidFill>
              <a:srgbClr val="61D8A5">
                <a:alpha val="7059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FADD55-9D06-4A89-A79C-F2418DE0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11163300" cy="590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17">
              <a:alpha val="90196"/>
            </a:srgbClr>
          </a:solidFill>
          <a:ln xmlns:a="http://schemas.openxmlformats.org/drawingml/2006/main" w="0">
            <a:solidFill>
              <a:srgbClr val="0B1D17">
                <a:alpha val="90196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87325A-64D1-42EF-8931-D481D78B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E4B"/>
          </a:solidFill>
          <a:ln xmlns:a="http://schemas.openxmlformats.org/drawingml/2006/main" w="0">
            <a:solidFill>
              <a:srgbClr val="2D5E4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D01AC2-919E-4042-93A9-3F055870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E4B"/>
          </a:solidFill>
          <a:ln xmlns:a="http://schemas.openxmlformats.org/drawingml/2006/main" w="0">
            <a:solidFill>
              <a:srgbClr val="2D5E4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02CDAD-90FE-4FB8-BC15-FAB86992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1D8A5"/>
                </a:solidFill>
              </a:defRPr>
            </a:pPr>
            <a:r>
              <a:rPr sz="900" b="1">
                <a:solidFill>
                  <a:srgbClr val="61D8A5"/>
                </a:solidFill>
              </a:rPr>
              <a:t>USER FLOW 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5CCC4B-17A4-41E9-8EEF-337513A8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7239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4FFF9"/>
                </a:solidFill>
              </a:defRPr>
            </a:pPr>
            <a:r>
              <a:rPr sz="2325" b="1">
                <a:solidFill>
                  <a:srgbClr val="F4FFF9"/>
                </a:solidFill>
              </a:rPr>
              <a:t>找教练与课程 / 私教入口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5302C3-E004-4982-91AD-D2B6F13D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704850"/>
            <a:ext cx="685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61D8A5"/>
                </a:solidFill>
              </a:defRPr>
            </a:pPr>
            <a:r>
              <a:rPr sz="1650" b="1">
                <a:solidFill>
                  <a:srgbClr val="61D8A5"/>
                </a:solidFill>
              </a:rPr>
              <a:t>06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15EE0A-BBFC-4083-9A12-E965488D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514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6D4C7"/>
                </a:solidFill>
              </a:defRPr>
            </a:pPr>
            <a:r>
              <a:rPr sz="1350" b="0">
                <a:solidFill>
                  <a:srgbClr val="B6D4C7"/>
                </a:solidFill>
              </a:rPr>
              <a:t>普通用户并不是孤立约球，而是能直接从平台进入教练服务场景。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4D4BDB-9B9B-4C03-A7E8-2F13ED0A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52650"/>
            <a:ext cx="23622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0000"/>
            </a:srgbClr>
          </a:solidFill>
          <a:ln xmlns:a="http://schemas.openxmlformats.org/drawingml/2006/main" w="0">
            <a:solidFill>
              <a:srgbClr val="000000">
                <a:alpha val="4000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156206-D57A-4A78-8539-50D8F9A1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2362200" cy="38100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0A0F0D"/>
          </a:solidFill>
          <a:ln xmlns:a="http://schemas.openxmlformats.org/drawingml/2006/main" w="0">
            <a:solidFill>
              <a:srgbClr val="2D2D2D"/>
            </a:solidFill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5655cb876249a7"/>
          <a:stretch xmlns:a="http://schemas.openxmlformats.org/drawingml/2006/main"/>
        </p:blipFill>
        <p:spPr>
          <a:xfrm xmlns:a="http://schemas.openxmlformats.org/drawingml/2006/main">
            <a:off x="1040908" y="2171700"/>
            <a:ext cx="1651984" cy="3581400"/>
          </a:xfrm>
          <a:prstGeom xmlns:a="http://schemas.openxmlformats.org/drawingml/2006/main" prst="round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A25235-A025-428B-AB83-540CC483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133600"/>
            <a:ext cx="76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B"/>
          </a:solidFill>
          <a:ln xmlns:a="http://schemas.openxmlformats.org/drawingml/2006/main" w="0">
            <a:solidFill>
              <a:srgbClr val="1B1B1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75B34D-1DD7-410A-B527-DF12F04D0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52650"/>
            <a:ext cx="23622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0000"/>
            </a:srgbClr>
          </a:solidFill>
          <a:ln xmlns:a="http://schemas.openxmlformats.org/drawingml/2006/main" w="0">
            <a:solidFill>
              <a:srgbClr val="000000">
                <a:alpha val="4000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DB215E-9EA4-46E3-950D-C1257A2D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57400"/>
            <a:ext cx="2362200" cy="38100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0A0F0D"/>
          </a:solidFill>
          <a:ln xmlns:a="http://schemas.openxmlformats.org/drawingml/2006/main" w="0">
            <a:solidFill>
              <a:srgbClr val="2D2D2D"/>
            </a:solidFill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9b8d4af23e4acb"/>
          <a:stretch xmlns:a="http://schemas.openxmlformats.org/drawingml/2006/main"/>
        </p:blipFill>
        <p:spPr>
          <a:xfrm xmlns:a="http://schemas.openxmlformats.org/drawingml/2006/main">
            <a:off x="3669808" y="2171700"/>
            <a:ext cx="1651984" cy="3581400"/>
          </a:xfrm>
          <a:prstGeom xmlns:a="http://schemas.openxmlformats.org/drawingml/2006/main" prst="round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6BD060-1C7B-455B-8632-4DC318F1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133600"/>
            <a:ext cx="76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B"/>
          </a:solidFill>
          <a:ln xmlns:a="http://schemas.openxmlformats.org/drawingml/2006/main" w="0">
            <a:solidFill>
              <a:srgbClr val="1B1B1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21FEB2-AC43-4CAB-83F9-C9111C8A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057400"/>
            <a:ext cx="51816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0F241E"/>
          </a:solidFill>
          <a:ln xmlns:a="http://schemas.openxmlformats.org/drawingml/2006/main" w="0">
            <a:solidFill>
              <a:srgbClr val="2D5E4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0CE2EB-568C-4695-9778-9F0205E92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050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FF9"/>
                </a:solidFill>
              </a:defRPr>
            </a:pPr>
            <a:r>
              <a:rPr sz="1575" b="1">
                <a:solidFill>
                  <a:srgbClr val="F4FFF9"/>
                </a:solidFill>
              </a:rPr>
              <a:t>用户看到的是一条连续路径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8DB4BD-9E8C-4A40-9F3F-B569F39C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24150"/>
            <a:ext cx="45910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0261E"/>
          </a:solidFill>
          <a:ln xmlns:a="http://schemas.openxmlformats.org/drawingml/2006/main" w="0">
            <a:solidFill>
              <a:srgbClr val="2D5E4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AA979B-7AEA-412B-ACDE-8EF1AB29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24150"/>
            <a:ext cx="95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D8A5"/>
          </a:solidFill>
          <a:ln xmlns:a="http://schemas.openxmlformats.org/drawingml/2006/main" w="0">
            <a:solidFill>
              <a:srgbClr val="61D8A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D47D88-8E79-4ADF-9D22-0E14807C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95600"/>
            <a:ext cx="421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FF9"/>
                </a:solidFill>
              </a:defRPr>
            </a:pPr>
            <a:r>
              <a:rPr sz="1275" b="1">
                <a:solidFill>
                  <a:srgbClr val="F4FFF9"/>
                </a:solidFill>
              </a:rPr>
              <a:t>教练列表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C92A08-6B7E-489E-8BCD-B3FFB4DA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38500"/>
            <a:ext cx="421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6D4C7"/>
                </a:solidFill>
              </a:defRPr>
            </a:pPr>
            <a:r>
              <a:rPr sz="1200" b="0">
                <a:solidFill>
                  <a:srgbClr val="B6D4C7"/>
                </a:solidFill>
              </a:rPr>
              <a:t>按标签、评分和学员数浏览，降低找人的不确定性。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BD6BA1-BF7E-4B46-A7F8-13916942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33800"/>
            <a:ext cx="45910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261E"/>
          </a:solidFill>
          <a:ln xmlns:a="http://schemas.openxmlformats.org/drawingml/2006/main" w="0">
            <a:solidFill>
              <a:srgbClr val="2D5E4B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9CC35E-BAE0-49B1-AAC8-271F54BC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33800"/>
            <a:ext cx="95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39D98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FC7F7A-0190-4F9E-8215-3F6EE250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05250"/>
            <a:ext cx="421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FF9"/>
                </a:solidFill>
              </a:defRPr>
            </a:pPr>
            <a:r>
              <a:rPr sz="1275" b="1">
                <a:solidFill>
                  <a:srgbClr val="F4FFF9"/>
                </a:solidFill>
              </a:rPr>
              <a:t>教练主页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94A03E-87E2-42AF-9C8C-6BCFF232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48150"/>
            <a:ext cx="421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6D4C7"/>
                </a:solidFill>
              </a:defRPr>
            </a:pPr>
            <a:r>
              <a:rPr sz="1200" b="0">
                <a:solidFill>
                  <a:srgbClr val="B6D4C7"/>
                </a:solidFill>
              </a:rPr>
              <a:t>集中展示简介、课程、私教入口和评价，帮助用户判断是否适合。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EC9848-E46B-4EF4-B3D5-51EB0347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57750"/>
            <a:ext cx="45910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0261E"/>
          </a:solidFill>
          <a:ln xmlns:a="http://schemas.openxmlformats.org/drawingml/2006/main" w="0">
            <a:solidFill>
              <a:srgbClr val="2D5E4B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58E99B-669B-415D-8FC6-7A985951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57750"/>
            <a:ext cx="95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1F7D62-9231-448E-9119-753EA4D9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029200"/>
            <a:ext cx="421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FF9"/>
                </a:solidFill>
              </a:defRPr>
            </a:pPr>
            <a:r>
              <a:rPr sz="1275" b="1">
                <a:solidFill>
                  <a:srgbClr val="F4FFF9"/>
                </a:solidFill>
              </a:rPr>
              <a:t>下一步动作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C349DD-D067-4C5D-8D40-21967950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372100"/>
            <a:ext cx="421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6D4C7"/>
                </a:solidFill>
              </a:defRPr>
            </a:pPr>
            <a:r>
              <a:rPr sz="1200" b="0">
                <a:solidFill>
                  <a:srgbClr val="B6D4C7"/>
                </a:solidFill>
              </a:rPr>
              <a:t>可以继续查看团课详情，也可以直接走预约私教流程。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79B111-F725-46D1-8A19-A596B51F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579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7B7A3"/>
                </a:solidFill>
              </a:defRPr>
            </a:pPr>
            <a:r>
              <a:rPr sz="750" b="0">
                <a:solidFill>
                  <a:srgbClr val="87B7A3"/>
                </a:solidFill>
              </a:rPr>
              <a:t>SmashMate · 产品介绍与操作指引</a:t>
            </a:r>
          </a:p>
        </p:txBody>
      </p:sp>
    </p:spTree>
    <p:extLst>
      <p:ext uri="{BB962C8B-B14F-4D97-AF65-F5344CB8AC3E}">
        <p14:creationId xmlns:p14="http://schemas.microsoft.com/office/powerpoint/2010/main" val="20988999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6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8BFFBD7-9451-4079-B2CA-F6C68A0D95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151F2F-45DE-4359-9F58-9AB163BF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1238250"/>
            <a:ext cx="409575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D8A5">
              <a:alpha val="12157"/>
            </a:srgbClr>
          </a:solidFill>
          <a:ln xmlns:a="http://schemas.openxmlformats.org/drawingml/2006/main" w="0">
            <a:solidFill>
              <a:srgbClr val="61D8A5">
                <a:alpha val="12157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43E3D5-1FC3-4327-A900-73C65A66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572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>
              <a:alpha val="8627"/>
            </a:srgbClr>
          </a:solidFill>
          <a:ln xmlns:a="http://schemas.openxmlformats.org/drawingml/2006/main" w="0">
            <a:solidFill>
              <a:srgbClr val="FFD166">
                <a:alpha val="8627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DADEB1-F8FE-4A2E-AF5D-E9673B1E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14350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D8A5">
              <a:alpha val="7059"/>
            </a:srgbClr>
          </a:solidFill>
          <a:ln xmlns:a="http://schemas.openxmlformats.org/drawingml/2006/main" w="0">
            <a:solidFill>
              <a:srgbClr val="61D8A5">
                <a:alpha val="7059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C373C4-E407-411C-AA22-FF3FAB41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11163300" cy="590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17">
              <a:alpha val="90196"/>
            </a:srgbClr>
          </a:solidFill>
          <a:ln xmlns:a="http://schemas.openxmlformats.org/drawingml/2006/main" w="0">
            <a:solidFill>
              <a:srgbClr val="0B1D17">
                <a:alpha val="90196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64AEC0-7780-48AB-91C6-4F370565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E4B"/>
          </a:solidFill>
          <a:ln xmlns:a="http://schemas.openxmlformats.org/drawingml/2006/main" w="0">
            <a:solidFill>
              <a:srgbClr val="2D5E4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387178-1DCB-4BF6-9DEB-1E0DCB7FB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E4B"/>
          </a:solidFill>
          <a:ln xmlns:a="http://schemas.openxmlformats.org/drawingml/2006/main" w="0">
            <a:solidFill>
              <a:srgbClr val="2D5E4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327F7B-8CE4-4608-97BB-E0B4B4FAB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1D8A5"/>
                </a:solidFill>
              </a:defRPr>
            </a:pPr>
            <a:r>
              <a:rPr sz="900" b="1">
                <a:solidFill>
                  <a:srgbClr val="61D8A5"/>
                </a:solidFill>
              </a:rPr>
              <a:t>USER FLOW 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F3412A-84EE-426A-B8C3-A5C42A9A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7239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4FFF9"/>
                </a:solidFill>
              </a:defRPr>
            </a:pPr>
            <a:r>
              <a:rPr sz="2325" b="1">
                <a:solidFill>
                  <a:srgbClr val="F4FFF9"/>
                </a:solidFill>
              </a:rPr>
              <a:t>个人中心与成长记录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3FBA3C-C5C6-4A3F-B0A1-D808901C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704850"/>
            <a:ext cx="685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61D8A5"/>
                </a:solidFill>
              </a:defRPr>
            </a:pPr>
            <a:r>
              <a:rPr sz="1650" b="1">
                <a:solidFill>
                  <a:srgbClr val="61D8A5"/>
                </a:solidFill>
              </a:rPr>
              <a:t>07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451F46-0283-4690-B4E9-2EDD9892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533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6D4C7"/>
                </a:solidFill>
              </a:defRPr>
            </a:pPr>
            <a:r>
              <a:rPr sz="1350" b="0">
                <a:solidFill>
                  <a:srgbClr val="B6D4C7"/>
                </a:solidFill>
              </a:rPr>
              <a:t>用户侧不只有“参加一次”，还保留了个人资料、入口导航和战绩回看。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8B3200-DB50-4D23-9A8C-BB6D2E4E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2533650" cy="386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0000"/>
            </a:srgbClr>
          </a:solidFill>
          <a:ln xmlns:a="http://schemas.openxmlformats.org/drawingml/2006/main" w="0">
            <a:solidFill>
              <a:srgbClr val="000000">
                <a:alpha val="4000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FC145D-6B73-4CC3-B128-F644AFC1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2533650" cy="386715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0A0F0D"/>
          </a:solidFill>
          <a:ln xmlns:a="http://schemas.openxmlformats.org/drawingml/2006/main" w="0">
            <a:solidFill>
              <a:srgbClr val="2D2D2D"/>
            </a:solidFill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713b4aabe540b7"/>
          <a:stretch xmlns:a="http://schemas.openxmlformats.org/drawingml/2006/main"/>
        </p:blipFill>
        <p:spPr>
          <a:xfrm xmlns:a="http://schemas.openxmlformats.org/drawingml/2006/main">
            <a:off x="1189652" y="2152650"/>
            <a:ext cx="1678345" cy="3638550"/>
          </a:xfrm>
          <a:prstGeom xmlns:a="http://schemas.openxmlformats.org/drawingml/2006/main" prst="round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13354A-3509-4DFF-BA86-25B41A63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2114550"/>
            <a:ext cx="76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B"/>
          </a:solidFill>
          <a:ln xmlns:a="http://schemas.openxmlformats.org/drawingml/2006/main" w="0">
            <a:solidFill>
              <a:srgbClr val="1B1B1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4804AF-C6D8-44B8-A26E-E7DD8CCA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133600"/>
            <a:ext cx="2533650" cy="386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0000"/>
            </a:srgbClr>
          </a:solidFill>
          <a:ln xmlns:a="http://schemas.openxmlformats.org/drawingml/2006/main" w="0">
            <a:solidFill>
              <a:srgbClr val="000000">
                <a:alpha val="4000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21EA90-60A6-4EB2-BEB8-EDEF0357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38350"/>
            <a:ext cx="2533650" cy="386715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0A0F0D"/>
          </a:solidFill>
          <a:ln xmlns:a="http://schemas.openxmlformats.org/drawingml/2006/main" w="0">
            <a:solidFill>
              <a:srgbClr val="2D2D2D"/>
            </a:solidFill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9f7b3bcb4f4514"/>
          <a:stretch xmlns:a="http://schemas.openxmlformats.org/drawingml/2006/main"/>
        </p:blipFill>
        <p:spPr>
          <a:xfrm xmlns:a="http://schemas.openxmlformats.org/drawingml/2006/main">
            <a:off x="3990002" y="2152650"/>
            <a:ext cx="1678345" cy="3638550"/>
          </a:xfrm>
          <a:prstGeom xmlns:a="http://schemas.openxmlformats.org/drawingml/2006/main" prst="round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1FFB23-3DDE-46C7-9442-113CE4C7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14550"/>
            <a:ext cx="76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B"/>
          </a:solidFill>
          <a:ln xmlns:a="http://schemas.openxmlformats.org/drawingml/2006/main" w="0">
            <a:solidFill>
              <a:srgbClr val="1B1B1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E274A6-5772-44C1-B5D3-0AC9666D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38350"/>
            <a:ext cx="4781550" cy="3867150"/>
          </a:xfrm>
          <a:prstGeom xmlns:a="http://schemas.openxmlformats.org/drawingml/2006/main" prst="roundRect">
            <a:avLst>
              <a:gd name="adj" fmla="val 1970"/>
            </a:avLst>
          </a:prstGeom>
          <a:solidFill xmlns:a="http://schemas.openxmlformats.org/drawingml/2006/main">
            <a:srgbClr val="0F241E"/>
          </a:solidFill>
          <a:ln xmlns:a="http://schemas.openxmlformats.org/drawingml/2006/main" w="0">
            <a:solidFill>
              <a:srgbClr val="2D5E4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E9FEE2-F721-439E-AABC-3A22739B4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00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D8A5"/>
          </a:solidFill>
          <a:ln xmlns:a="http://schemas.openxmlformats.org/drawingml/2006/main" w="0">
            <a:solidFill>
              <a:srgbClr val="61D8A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334DAD-568F-4732-9FED-F0CD78B0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574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C2218"/>
                </a:solidFill>
              </a:defRPr>
            </a:pPr>
            <a:r>
              <a:rPr sz="1050" b="1">
                <a:solidFill>
                  <a:srgbClr val="0C2218"/>
                </a:solidFill>
              </a:rPr>
              <a:t>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D0BDDA-0E54-4BED-80FC-13E6F627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00300"/>
            <a:ext cx="3733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FF9"/>
                </a:solidFill>
              </a:defRPr>
            </a:pPr>
            <a:r>
              <a:rPr sz="1350" b="1">
                <a:solidFill>
                  <a:srgbClr val="F4FFF9"/>
                </a:solidFill>
              </a:rPr>
              <a:t>个人主页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922638-F47A-4F9B-B1BB-A129DC29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67000"/>
            <a:ext cx="3733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6D4C7"/>
                </a:solidFill>
              </a:defRPr>
            </a:pPr>
            <a:r>
              <a:rPr sz="1125" b="0">
                <a:solidFill>
                  <a:srgbClr val="B6D4C7"/>
                </a:solidFill>
              </a:rPr>
              <a:t>汇总头像、昵称、基础战绩和常用入口，是用户端的个人工作台。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D55AFB-5B95-47E0-92D9-B0272D13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33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D8A5"/>
          </a:solidFill>
          <a:ln xmlns:a="http://schemas.openxmlformats.org/drawingml/2006/main" w="0">
            <a:solidFill>
              <a:srgbClr val="61D8A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D16F5C-63B4-471D-B30B-1A2D7C3C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909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C2218"/>
                </a:solidFill>
              </a:defRPr>
            </a:pPr>
            <a:r>
              <a:rPr sz="1050" b="1">
                <a:solidFill>
                  <a:srgbClr val="0C2218"/>
                </a:solidFill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232684-747C-4F44-9713-5BCFD4EC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333750"/>
            <a:ext cx="3733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FF9"/>
                </a:solidFill>
              </a:defRPr>
            </a:pPr>
            <a:r>
              <a:rPr sz="1350" b="1">
                <a:solidFill>
                  <a:srgbClr val="F4FFF9"/>
                </a:solidFill>
              </a:rPr>
              <a:t>快捷入口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1BFD85-324F-4346-A19E-07AB8E3D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00450"/>
            <a:ext cx="3733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6D4C7"/>
                </a:solidFill>
              </a:defRPr>
            </a:pPr>
            <a:r>
              <a:rPr sz="1125" b="0">
                <a:solidFill>
                  <a:srgbClr val="B6D4C7"/>
                </a:solidFill>
              </a:rPr>
              <a:t>我的活动、我的课程、战绩记录、设置等动作被集中组织。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DC63B7-9E52-4758-9A68-57BA69B2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67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D8A5"/>
          </a:solidFill>
          <a:ln xmlns:a="http://schemas.openxmlformats.org/drawingml/2006/main" w="0">
            <a:solidFill>
              <a:srgbClr val="61D8A5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E6E33D-B478-4FB1-A1CF-6ADCB12D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3243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C2218"/>
                </a:solidFill>
              </a:defRPr>
            </a:pPr>
            <a:r>
              <a:rPr sz="1050" b="1">
                <a:solidFill>
                  <a:srgbClr val="0C2218"/>
                </a:solidFill>
              </a:rPr>
              <a:t>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2AF2E3-348D-4D01-BF97-252CE450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267200"/>
            <a:ext cx="3733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FF9"/>
                </a:solidFill>
              </a:defRPr>
            </a:pPr>
            <a:r>
              <a:rPr sz="1350" b="1">
                <a:solidFill>
                  <a:srgbClr val="F4FFF9"/>
                </a:solidFill>
              </a:rPr>
              <a:t>战绩回看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B2D9AB-AED3-41B7-B049-E0E7C8E7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33900"/>
            <a:ext cx="3733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6D4C7"/>
                </a:solidFill>
              </a:defRPr>
            </a:pPr>
            <a:r>
              <a:rPr sz="1125" b="0">
                <a:solidFill>
                  <a:srgbClr val="B6D4C7"/>
                </a:solidFill>
              </a:rPr>
              <a:t>即使暂无记录，页面结构也已经预留了长期沉淀成长数据的位置。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724506-D5F2-4328-91CF-A4F8C884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579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7B7A3"/>
                </a:solidFill>
              </a:defRPr>
            </a:pPr>
            <a:r>
              <a:rPr sz="750" b="0">
                <a:solidFill>
                  <a:srgbClr val="87B7A3"/>
                </a:solidFill>
              </a:rPr>
              <a:t>SmashMate · 产品介绍与操作指引</a:t>
            </a:r>
          </a:p>
        </p:txBody>
      </p:sp>
    </p:spTree>
    <p:extLst>
      <p:ext uri="{BB962C8B-B14F-4D97-AF65-F5344CB8AC3E}">
        <p14:creationId xmlns:p14="http://schemas.microsoft.com/office/powerpoint/2010/main" val="12376739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6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8BFFBD7-9451-4079-B2CA-F6C68A0D95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DF373F-2EB5-425A-B9D4-F247B5AA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1238250"/>
            <a:ext cx="409575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>
              <a:alpha val="12157"/>
            </a:srgbClr>
          </a:solidFill>
          <a:ln xmlns:a="http://schemas.openxmlformats.org/drawingml/2006/main" w="0">
            <a:solidFill>
              <a:srgbClr val="FFD166">
                <a:alpha val="12157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70E462-CDC1-4223-8DF7-B191D3B5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572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>
              <a:alpha val="8627"/>
            </a:srgbClr>
          </a:solidFill>
          <a:ln xmlns:a="http://schemas.openxmlformats.org/drawingml/2006/main" w="0">
            <a:solidFill>
              <a:srgbClr val="FFD166">
                <a:alpha val="8627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4F6EE2-07E3-4C8A-AF51-8660C5D2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14350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D8A5">
              <a:alpha val="7059"/>
            </a:srgbClr>
          </a:solidFill>
          <a:ln xmlns:a="http://schemas.openxmlformats.org/drawingml/2006/main" w="0">
            <a:solidFill>
              <a:srgbClr val="61D8A5">
                <a:alpha val="7059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71C6A5-BEDA-408E-AD1A-890058A9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11163300" cy="590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17">
              <a:alpha val="90196"/>
            </a:srgbClr>
          </a:solidFill>
          <a:ln xmlns:a="http://schemas.openxmlformats.org/drawingml/2006/main" w="0">
            <a:solidFill>
              <a:srgbClr val="0B1D17">
                <a:alpha val="90196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534A89-22A2-4D5A-BF12-7C117085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E4B"/>
          </a:solidFill>
          <a:ln xmlns:a="http://schemas.openxmlformats.org/drawingml/2006/main" w="0">
            <a:solidFill>
              <a:srgbClr val="2D5E4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0CAFA3-9188-4556-BF15-025C874B5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E4B"/>
          </a:solidFill>
          <a:ln xmlns:a="http://schemas.openxmlformats.org/drawingml/2006/main" w="0">
            <a:solidFill>
              <a:srgbClr val="2D5E4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37D7E1-B8EE-44CE-BB60-96C8AC5D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</a:defRPr>
            </a:pPr>
            <a:r>
              <a:rPr sz="900" b="1">
                <a:solidFill>
                  <a:srgbClr val="FFD166"/>
                </a:solidFill>
              </a:rPr>
              <a:t>COACH MODE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F90772-3D0B-45FE-90CD-B8FDB9637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7239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4FFF9"/>
                </a:solidFill>
              </a:defRPr>
            </a:pPr>
            <a:r>
              <a:rPr sz="2325" b="1">
                <a:solidFill>
                  <a:srgbClr val="F4FFF9"/>
                </a:solidFill>
              </a:rPr>
              <a:t>从普通模式切到教练工作台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EC39A1-6901-4FE8-9933-CEEF3443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704850"/>
            <a:ext cx="685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D166"/>
                </a:solidFill>
              </a:defRPr>
            </a:pPr>
            <a:r>
              <a:rPr sz="1650" b="1">
                <a:solidFill>
                  <a:srgbClr val="FFD166"/>
                </a:solidFill>
              </a:rPr>
              <a:t>08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7C788A-D15C-439B-B82C-1CFF5459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609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6D4C7"/>
                </a:solidFill>
              </a:defRPr>
            </a:pPr>
            <a:r>
              <a:rPr sz="1350" b="0">
                <a:solidFill>
                  <a:srgbClr val="B6D4C7"/>
                </a:solidFill>
              </a:rPr>
              <a:t>教练模式不是新账号，而是同一个账号在“用户视角”和“工作视角”之间切换。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B941C4-76D3-48FF-837F-5B8956FF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26479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0000"/>
            </a:srgbClr>
          </a:solidFill>
          <a:ln xmlns:a="http://schemas.openxmlformats.org/drawingml/2006/main" w="0">
            <a:solidFill>
              <a:srgbClr val="000000">
                <a:alpha val="4000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7564E0-4DB7-4CB5-8D56-65114742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2647950" cy="400050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0A0F0D"/>
          </a:solidFill>
          <a:ln xmlns:a="http://schemas.openxmlformats.org/drawingml/2006/main" w="0">
            <a:solidFill>
              <a:srgbClr val="2D2D2D"/>
            </a:solidFill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d8f43884a64671"/>
          <a:stretch xmlns:a="http://schemas.openxmlformats.org/drawingml/2006/main"/>
        </p:blipFill>
        <p:spPr>
          <a:xfrm xmlns:a="http://schemas.openxmlformats.org/drawingml/2006/main">
            <a:off x="1196997" y="2133600"/>
            <a:ext cx="1739855" cy="3771900"/>
          </a:xfrm>
          <a:prstGeom xmlns:a="http://schemas.openxmlformats.org/drawingml/2006/main" prst="round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2EAEF7-4D7C-46B7-8531-C74EFDE9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095500"/>
            <a:ext cx="76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B"/>
          </a:solidFill>
          <a:ln xmlns:a="http://schemas.openxmlformats.org/drawingml/2006/main" w="0">
            <a:solidFill>
              <a:srgbClr val="1B1B1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749CCC-C7E6-46DC-901E-3C13791B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14550"/>
            <a:ext cx="708660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10261E"/>
          </a:solidFill>
          <a:ln xmlns:a="http://schemas.openxmlformats.org/drawingml/2006/main" w="0">
            <a:solidFill>
              <a:srgbClr val="2D5E4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5D6C5E-C0DE-46AD-AD2C-A863E61B8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362200"/>
            <a:ext cx="3810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FF9"/>
                </a:solidFill>
              </a:defRPr>
            </a:pPr>
            <a:r>
              <a:rPr sz="1575" b="1">
                <a:solidFill>
                  <a:srgbClr val="F4FFF9"/>
                </a:solidFill>
              </a:rPr>
              <a:t>切换前后，底部导航会重新组织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EE42A7-1618-4367-869D-710A17F2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29718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63226"/>
          </a:solidFill>
          <a:ln xmlns:a="http://schemas.openxmlformats.org/drawingml/2006/main" w="0">
            <a:solidFill>
              <a:srgbClr val="2D5E4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AAC9BC-AC78-4D44-91E7-C6DB3193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956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1D8A5"/>
                </a:solidFill>
              </a:defRPr>
            </a:pPr>
            <a:r>
              <a:rPr sz="1050" b="1">
                <a:solidFill>
                  <a:srgbClr val="61D8A5"/>
                </a:solidFill>
              </a:rPr>
              <a:t>普通模式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B7B6D7-41CF-4217-8F8F-03E4AD57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43250"/>
            <a:ext cx="2343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0E2"/>
                </a:solidFill>
              </a:defRPr>
            </a:pPr>
            <a:r>
              <a:rPr sz="1350" b="1">
                <a:solidFill>
                  <a:srgbClr val="F6F0E2"/>
                </a:solidFill>
              </a:rPr>
              <a:t>约球  ·  找教练  ·  我的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4E5B87-4A0E-4B48-BACC-9FA75FE8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724150"/>
            <a:ext cx="32575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63226"/>
          </a:solidFill>
          <a:ln xmlns:a="http://schemas.openxmlformats.org/drawingml/2006/main" w="0">
            <a:solidFill>
              <a:srgbClr val="2D5E4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839A95-160E-4CEE-A312-A8069CA0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8956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166"/>
                </a:solidFill>
              </a:defRPr>
            </a:pPr>
            <a:r>
              <a:rPr sz="1050" b="1">
                <a:solidFill>
                  <a:srgbClr val="FFD166"/>
                </a:solidFill>
              </a:rPr>
              <a:t>教练模式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15CD9E-7CAA-4DEE-A3F6-CA350A4F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43250"/>
            <a:ext cx="2609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0E2"/>
                </a:solidFill>
              </a:defRPr>
            </a:pPr>
            <a:r>
              <a:rPr sz="1350" b="1">
                <a:solidFill>
                  <a:srgbClr val="F6F0E2"/>
                </a:solidFill>
              </a:rPr>
              <a:t>课程  ·  学员  ·  我的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81D888-9ECE-451A-8DFD-8048EE41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095750"/>
            <a:ext cx="22288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0261E"/>
          </a:solidFill>
          <a:ln xmlns:a="http://schemas.openxmlformats.org/drawingml/2006/main" w="0">
            <a:solidFill>
              <a:srgbClr val="2D5E4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ED2623-C0DE-4325-89F4-278D1398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095750"/>
            <a:ext cx="95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2AC307-F612-4A59-AF44-7100F80D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267200"/>
            <a:ext cx="1847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FF9"/>
                </a:solidFill>
              </a:defRPr>
            </a:pPr>
            <a:r>
              <a:rPr sz="1275" b="1">
                <a:solidFill>
                  <a:srgbClr val="F4FFF9"/>
                </a:solidFill>
              </a:rPr>
              <a:t>意义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07FDF5-FF85-4EDF-93B6-A1F3694B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610100"/>
            <a:ext cx="1847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6D4C7"/>
                </a:solidFill>
              </a:defRPr>
            </a:pPr>
            <a:r>
              <a:rPr sz="1200" b="0">
                <a:solidFill>
                  <a:srgbClr val="B6D4C7"/>
                </a:solidFill>
              </a:rPr>
              <a:t>把高频工作入口前置，让教练不再绕进个人页的深层链接。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38919D-772A-4EDE-A47E-2BAAFA2E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95750"/>
            <a:ext cx="22288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0261E"/>
          </a:solidFill>
          <a:ln xmlns:a="http://schemas.openxmlformats.org/drawingml/2006/main" w="0">
            <a:solidFill>
              <a:srgbClr val="2D5E4B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9BB7F1-F281-42A5-B4A3-940CB33B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95750"/>
            <a:ext cx="95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39D98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0A7524-D1B0-40EE-9A53-A4F30F639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67200"/>
            <a:ext cx="1847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FF9"/>
                </a:solidFill>
              </a:defRPr>
            </a:pPr>
            <a:r>
              <a:rPr sz="1275" b="1">
                <a:solidFill>
                  <a:srgbClr val="F4FFF9"/>
                </a:solidFill>
              </a:rPr>
              <a:t>结果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AFF3A7-955C-42E8-88B0-C087B8D3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10100"/>
            <a:ext cx="1847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6D4C7"/>
                </a:solidFill>
              </a:defRPr>
            </a:pPr>
            <a:r>
              <a:rPr sz="1200" b="0">
                <a:solidFill>
                  <a:srgbClr val="B6D4C7"/>
                </a:solidFill>
              </a:rPr>
              <a:t>课程管理和学员管理变成主导航，而不是次级菜单。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C8EC6B-13D9-4253-9D34-A081263E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95750"/>
            <a:ext cx="22098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0261E"/>
          </a:solidFill>
          <a:ln xmlns:a="http://schemas.openxmlformats.org/drawingml/2006/main" w="0">
            <a:solidFill>
              <a:srgbClr val="2D5E4B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620A8A-78EB-408B-9C81-4F2621AE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95750"/>
            <a:ext cx="95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D8A5"/>
          </a:solidFill>
          <a:ln xmlns:a="http://schemas.openxmlformats.org/drawingml/2006/main" w="0">
            <a:solidFill>
              <a:srgbClr val="61D8A5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727D42-29C5-4132-971E-2C004551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67200"/>
            <a:ext cx="1828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FF9"/>
                </a:solidFill>
              </a:defRPr>
            </a:pPr>
            <a:r>
              <a:rPr sz="1275" b="1">
                <a:solidFill>
                  <a:srgbClr val="F4FFF9"/>
                </a:solidFill>
              </a:rPr>
              <a:t>默认首页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1D26CA-2DF0-4365-B16E-A1EC32D3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610100"/>
            <a:ext cx="1828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6D4C7"/>
                </a:solidFill>
              </a:defRPr>
            </a:pPr>
            <a:r>
              <a:rPr sz="1200" b="0">
                <a:solidFill>
                  <a:srgbClr val="B6D4C7"/>
                </a:solidFill>
              </a:rPr>
              <a:t>打开 App 时直接进入课程管理，工作节奏更顺手。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B75C43-19D7-4DE4-9766-7A0254F73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579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7B7A3"/>
                </a:solidFill>
              </a:defRPr>
            </a:pPr>
            <a:r>
              <a:rPr sz="750" b="0">
                <a:solidFill>
                  <a:srgbClr val="87B7A3"/>
                </a:solidFill>
              </a:rPr>
              <a:t>SmashMate · 产品介绍与操作指引</a:t>
            </a:r>
          </a:p>
        </p:txBody>
      </p:sp>
    </p:spTree>
    <p:extLst>
      <p:ext uri="{BB962C8B-B14F-4D97-AF65-F5344CB8AC3E}">
        <p14:creationId xmlns:p14="http://schemas.microsoft.com/office/powerpoint/2010/main" val="8662663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6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8BFFBD7-9451-4079-B2CA-F6C68A0D95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B3EF43-9143-41D2-A1C5-A3BD2FD4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1238250"/>
            <a:ext cx="409575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>
              <a:alpha val="12157"/>
            </a:srgbClr>
          </a:solidFill>
          <a:ln xmlns:a="http://schemas.openxmlformats.org/drawingml/2006/main" w="0">
            <a:solidFill>
              <a:srgbClr val="FFD166">
                <a:alpha val="12157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1F07B3-60CB-4CA9-AE74-B4E34A78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572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>
              <a:alpha val="8627"/>
            </a:srgbClr>
          </a:solidFill>
          <a:ln xmlns:a="http://schemas.openxmlformats.org/drawingml/2006/main" w="0">
            <a:solidFill>
              <a:srgbClr val="FFD166">
                <a:alpha val="8627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350A4C-3940-41E2-BB5C-E825E44C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14350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D8A5">
              <a:alpha val="7059"/>
            </a:srgbClr>
          </a:solidFill>
          <a:ln xmlns:a="http://schemas.openxmlformats.org/drawingml/2006/main" w="0">
            <a:solidFill>
              <a:srgbClr val="61D8A5">
                <a:alpha val="7059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126161-E9C2-4B53-8B41-5222D166A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11163300" cy="590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17">
              <a:alpha val="90196"/>
            </a:srgbClr>
          </a:solidFill>
          <a:ln xmlns:a="http://schemas.openxmlformats.org/drawingml/2006/main" w="0">
            <a:solidFill>
              <a:srgbClr val="0B1D17">
                <a:alpha val="90196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975C0B-534E-48AA-B599-8CD0577F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E4B"/>
          </a:solidFill>
          <a:ln xmlns:a="http://schemas.openxmlformats.org/drawingml/2006/main" w="0">
            <a:solidFill>
              <a:srgbClr val="2D5E4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5E2951-1D8E-4BE5-8DB3-6FE67A59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E4B"/>
          </a:solidFill>
          <a:ln xmlns:a="http://schemas.openxmlformats.org/drawingml/2006/main" w="0">
            <a:solidFill>
              <a:srgbClr val="2D5E4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62DDD4-AFB9-49D5-8597-49613C9A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</a:defRPr>
            </a:pPr>
            <a:r>
              <a:rPr sz="900" b="1">
                <a:solidFill>
                  <a:srgbClr val="FFD166"/>
                </a:solidFill>
              </a:rPr>
              <a:t>COACH HUB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A96E30-95DB-43D7-972E-3F6C3104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7239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4FFF9"/>
                </a:solidFill>
              </a:defRPr>
            </a:pPr>
            <a:r>
              <a:rPr sz="2325" b="1">
                <a:solidFill>
                  <a:srgbClr val="F4FFF9"/>
                </a:solidFill>
              </a:rPr>
              <a:t>课程管理工作台总览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76FBF2-D1CB-449A-A9F3-8C68CC1E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704850"/>
            <a:ext cx="685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D166"/>
                </a:solidFill>
              </a:defRPr>
            </a:pPr>
            <a:r>
              <a:rPr sz="1650" b="1">
                <a:solidFill>
                  <a:srgbClr val="FFD166"/>
                </a:solidFill>
              </a:rPr>
              <a:t>09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4126AC-3563-470A-A332-6AB67D5D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542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6D4C7"/>
                </a:solidFill>
              </a:defRPr>
            </a:pPr>
            <a:r>
              <a:rPr sz="1350" b="0">
                <a:solidFill>
                  <a:srgbClr val="B6D4C7"/>
                </a:solidFill>
              </a:rPr>
              <a:t>教练模式的核心首页是课程管理页，四个 Tab 对应四类高频工作。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61A93B-0FC8-4E57-ABA4-1ECAD130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31623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0000"/>
            </a:srgbClr>
          </a:solidFill>
          <a:ln xmlns:a="http://schemas.openxmlformats.org/drawingml/2006/main" w="0">
            <a:solidFill>
              <a:srgbClr val="000000">
                <a:alpha val="4000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9B8260-B530-4DFE-8D3F-D2A2C43A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3162300" cy="40005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0A0F0D"/>
          </a:solidFill>
          <a:ln xmlns:a="http://schemas.openxmlformats.org/drawingml/2006/main" w="0">
            <a:solidFill>
              <a:srgbClr val="2D2D2D"/>
            </a:solidFill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82cfde92c14f3d"/>
          <a:stretch xmlns:a="http://schemas.openxmlformats.org/drawingml/2006/main"/>
        </p:blipFill>
        <p:spPr>
          <a:xfrm xmlns:a="http://schemas.openxmlformats.org/drawingml/2006/main">
            <a:off x="1377972" y="2152650"/>
            <a:ext cx="1739855" cy="3771900"/>
          </a:xfrm>
          <a:prstGeom xmlns:a="http://schemas.openxmlformats.org/drawingml/2006/main" prst="round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1955D8-424C-4544-B7A1-6E3EDE66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114550"/>
            <a:ext cx="76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B"/>
          </a:solidFill>
          <a:ln xmlns:a="http://schemas.openxmlformats.org/drawingml/2006/main" w="0">
            <a:solidFill>
              <a:srgbClr val="1B1B1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BA28E1-DCE5-4F32-81CD-FCE3B7CD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47900"/>
            <a:ext cx="32766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0261E"/>
          </a:solidFill>
          <a:ln xmlns:a="http://schemas.openxmlformats.org/drawingml/2006/main" w="0">
            <a:solidFill>
              <a:srgbClr val="2D5E4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7FD1CE-503B-4484-B722-0650FFF5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47900"/>
            <a:ext cx="95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D8A5"/>
          </a:solidFill>
          <a:ln xmlns:a="http://schemas.openxmlformats.org/drawingml/2006/main" w="0">
            <a:solidFill>
              <a:srgbClr val="61D8A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736B99-319B-4613-B6E4-7BC2D8AE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19350"/>
            <a:ext cx="2895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FF9"/>
                </a:solidFill>
              </a:defRPr>
            </a:pPr>
            <a:r>
              <a:rPr sz="1275" b="1">
                <a:solidFill>
                  <a:srgbClr val="F4FFF9"/>
                </a:solidFill>
              </a:rPr>
              <a:t>团课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EC95D1-C47D-4449-B4A9-69FA762C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62250"/>
            <a:ext cx="2895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6D4C7"/>
                </a:solidFill>
              </a:defRPr>
            </a:pPr>
            <a:r>
              <a:rPr sz="1200" b="0">
                <a:solidFill>
                  <a:srgbClr val="B6D4C7"/>
                </a:solidFill>
              </a:rPr>
              <a:t>发布、修改和查看公开课程，承接多人报名场景。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6B3F78-3DB9-4B03-9D36-7D8EF6B9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47900"/>
            <a:ext cx="32766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0261E"/>
          </a:solidFill>
          <a:ln xmlns:a="http://schemas.openxmlformats.org/drawingml/2006/main" w="0">
            <a:solidFill>
              <a:srgbClr val="2D5E4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FA41E2-CBA8-4E13-A3AF-AC8B04DD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47900"/>
            <a:ext cx="95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39D98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52FFAF-B37A-4872-A773-122B2329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19350"/>
            <a:ext cx="2895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FF9"/>
                </a:solidFill>
              </a:defRPr>
            </a:pPr>
            <a:r>
              <a:rPr sz="1275" b="1">
                <a:solidFill>
                  <a:srgbClr val="F4FFF9"/>
                </a:solidFill>
              </a:rPr>
              <a:t>私教时间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C4C635-2E64-4E0C-B357-0A9F3D5E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62250"/>
            <a:ext cx="2895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6D4C7"/>
                </a:solidFill>
              </a:defRPr>
            </a:pPr>
            <a:r>
              <a:rPr sz="1200" b="0">
                <a:solidFill>
                  <a:srgbClr val="B6D4C7"/>
                </a:solidFill>
              </a:rPr>
              <a:t>维护可预约时段，让学员能够从教练主页继续下单。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C9E9C2-7B3D-44A6-B26F-5CABD3F0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524250"/>
            <a:ext cx="32766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0261E"/>
          </a:solidFill>
          <a:ln xmlns:a="http://schemas.openxmlformats.org/drawingml/2006/main" w="0">
            <a:solidFill>
              <a:srgbClr val="2D5E4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25AE2E-F08A-43F8-808C-08920343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524250"/>
            <a:ext cx="95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077ADE-B67B-4989-8DEA-CB253051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95700"/>
            <a:ext cx="2895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FF9"/>
                </a:solidFill>
              </a:defRPr>
            </a:pPr>
            <a:r>
              <a:rPr sz="1275" b="1">
                <a:solidFill>
                  <a:srgbClr val="F4FFF9"/>
                </a:solidFill>
              </a:rPr>
              <a:t>私教课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A71971-8615-4A01-9820-99891EA1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38600"/>
            <a:ext cx="2895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6D4C7"/>
                </a:solidFill>
              </a:defRPr>
            </a:pPr>
            <a:r>
              <a:rPr sz="1200" b="0">
                <a:solidFill>
                  <a:srgbClr val="B6D4C7"/>
                </a:solidFill>
              </a:rPr>
              <a:t>查看已经形成的私教安排，进入具体课程详情。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891B71-CC48-45A8-8106-F54D1FC65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524250"/>
            <a:ext cx="32766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0261E"/>
          </a:solidFill>
          <a:ln xmlns:a="http://schemas.openxmlformats.org/drawingml/2006/main" w="0">
            <a:solidFill>
              <a:srgbClr val="2D5E4B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C52333-4FED-4F57-A640-C0AD77FE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524250"/>
            <a:ext cx="95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FFCE"/>
          </a:solidFill>
          <a:ln xmlns:a="http://schemas.openxmlformats.org/drawingml/2006/main" w="0">
            <a:solidFill>
              <a:srgbClr val="9BFFCE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AEBC33-4E2E-4B1D-9E64-6EAE6D60A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95700"/>
            <a:ext cx="2895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FF9"/>
                </a:solidFill>
              </a:defRPr>
            </a:pPr>
            <a:r>
              <a:rPr sz="1275" b="1">
                <a:solidFill>
                  <a:srgbClr val="F4FFF9"/>
                </a:solidFill>
              </a:rPr>
              <a:t>学员班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8CD098-F02A-40D9-9D7B-0B29CDCC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38600"/>
            <a:ext cx="2895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6D4C7"/>
                </a:solidFill>
              </a:defRPr>
            </a:pPr>
            <a:r>
              <a:rPr sz="1200" b="0">
                <a:solidFill>
                  <a:srgbClr val="B6D4C7"/>
                </a:solidFill>
              </a:rPr>
              <a:t>围绕长期班级管理成员和排课，是后续演示的重点入口。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0EC826-713D-432F-BCC9-B7133982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972050"/>
            <a:ext cx="68008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7362C"/>
          </a:solidFill>
          <a:ln xmlns:a="http://schemas.openxmlformats.org/drawingml/2006/main" w="0">
            <a:solidFill>
              <a:srgbClr val="2D5E4B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9BA423-F8D7-42F6-9619-33C5DAAE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219700"/>
            <a:ext cx="6343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0E2"/>
                </a:solidFill>
              </a:defRPr>
            </a:pPr>
            <a:r>
              <a:rPr sz="1350" b="0">
                <a:solidFill>
                  <a:srgbClr val="F6F0E2"/>
                </a:solidFill>
              </a:rPr>
              <a:t>这一页决定了教练对产品的第一感受：入口够不够近、工作流是不是连续。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25FBC9-BB87-4C07-AD61-5C7DF01B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579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7B7A3"/>
                </a:solidFill>
              </a:defRPr>
            </a:pPr>
            <a:r>
              <a:rPr sz="750" b="0">
                <a:solidFill>
                  <a:srgbClr val="87B7A3"/>
                </a:solidFill>
              </a:rPr>
              <a:t>SmashMate · 产品介绍与操作指引</a:t>
            </a:r>
          </a:p>
        </p:txBody>
      </p:sp>
    </p:spTree>
    <p:extLst>
      <p:ext uri="{BB962C8B-B14F-4D97-AF65-F5344CB8AC3E}">
        <p14:creationId xmlns:p14="http://schemas.microsoft.com/office/powerpoint/2010/main" val="6096260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6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8BFFBD7-9451-4079-B2CA-F6C68A0D95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427A41-C532-4F25-8D60-8A234EF3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1238250"/>
            <a:ext cx="409575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>
              <a:alpha val="12157"/>
            </a:srgbClr>
          </a:solidFill>
          <a:ln xmlns:a="http://schemas.openxmlformats.org/drawingml/2006/main" w="0">
            <a:solidFill>
              <a:srgbClr val="FFD166">
                <a:alpha val="12157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C4C296-C0A0-449E-BC80-C2FBFC6F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572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>
              <a:alpha val="8627"/>
            </a:srgbClr>
          </a:solidFill>
          <a:ln xmlns:a="http://schemas.openxmlformats.org/drawingml/2006/main" w="0">
            <a:solidFill>
              <a:srgbClr val="FFD166">
                <a:alpha val="8627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6EB514-F9CF-4700-968E-FA8B40F5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14350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D8A5">
              <a:alpha val="7059"/>
            </a:srgbClr>
          </a:solidFill>
          <a:ln xmlns:a="http://schemas.openxmlformats.org/drawingml/2006/main" w="0">
            <a:solidFill>
              <a:srgbClr val="61D8A5">
                <a:alpha val="7059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3AD61C-28D8-4C1B-8693-1EB5FE58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11163300" cy="590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17">
              <a:alpha val="90196"/>
            </a:srgbClr>
          </a:solidFill>
          <a:ln xmlns:a="http://schemas.openxmlformats.org/drawingml/2006/main" w="0">
            <a:solidFill>
              <a:srgbClr val="0B1D17">
                <a:alpha val="90196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4C377A-0BD4-40CB-80A1-EEF183A7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E4B"/>
          </a:solidFill>
          <a:ln xmlns:a="http://schemas.openxmlformats.org/drawingml/2006/main" w="0">
            <a:solidFill>
              <a:srgbClr val="2D5E4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CA02DA-3E40-4169-B1CF-A093D6DE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E4B"/>
          </a:solidFill>
          <a:ln xmlns:a="http://schemas.openxmlformats.org/drawingml/2006/main" w="0">
            <a:solidFill>
              <a:srgbClr val="2D5E4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567019-911D-4251-A030-3D9E7716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</a:defRPr>
            </a:pPr>
            <a:r>
              <a:rPr sz="900" b="1">
                <a:solidFill>
                  <a:srgbClr val="FFD166"/>
                </a:solidFill>
              </a:rPr>
              <a:t>COACH FLOW 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C7FA9B-4460-4F0F-92F0-7BB14AA06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7239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4FFF9"/>
                </a:solidFill>
              </a:defRPr>
            </a:pPr>
            <a:r>
              <a:rPr sz="2325" b="1">
                <a:solidFill>
                  <a:srgbClr val="F4FFF9"/>
                </a:solidFill>
              </a:rPr>
              <a:t>学员班管理：创建班级并进入详情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C747A8-AEC9-4B55-A3DE-2A7E5061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704850"/>
            <a:ext cx="685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D166"/>
                </a:solidFill>
              </a:defRPr>
            </a:pPr>
            <a:r>
              <a:rPr sz="1650" b="1">
                <a:solidFill>
                  <a:srgbClr val="FFD166"/>
                </a:solidFill>
              </a:rPr>
              <a:t>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279655-6421-4144-94D0-C3DCEC26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590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6D4C7"/>
                </a:solidFill>
              </a:defRPr>
            </a:pPr>
            <a:r>
              <a:rPr sz="1350" b="0">
                <a:solidFill>
                  <a:srgbClr val="B6D4C7"/>
                </a:solidFill>
              </a:rPr>
              <a:t>学员班是教练做长期运营的起点，先建班，再围绕班级持续加学员和排课程。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95552A-9AF9-4142-8B74-A0E516A6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217170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0000"/>
            </a:srgbClr>
          </a:solidFill>
          <a:ln xmlns:a="http://schemas.openxmlformats.org/drawingml/2006/main" w="0">
            <a:solidFill>
              <a:srgbClr val="000000">
                <a:alpha val="4000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6132CB-1BB4-4B14-A099-9E3E3E44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2171700" cy="344805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0A0F0D"/>
          </a:solidFill>
          <a:ln xmlns:a="http://schemas.openxmlformats.org/drawingml/2006/main" w="0">
            <a:solidFill>
              <a:srgbClr val="2D2D2D"/>
            </a:solidFill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f40a398f7d4cbb"/>
          <a:stretch xmlns:a="http://schemas.openxmlformats.org/drawingml/2006/main"/>
        </p:blipFill>
        <p:spPr>
          <a:xfrm xmlns:a="http://schemas.openxmlformats.org/drawingml/2006/main">
            <a:off x="971986" y="2228850"/>
            <a:ext cx="1485028" cy="3219450"/>
          </a:xfrm>
          <a:prstGeom xmlns:a="http://schemas.openxmlformats.org/drawingml/2006/main" prst="round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D9EFF9-FEAE-4D92-BE3D-FAD6BC59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90750"/>
            <a:ext cx="76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B"/>
          </a:solidFill>
          <a:ln xmlns:a="http://schemas.openxmlformats.org/drawingml/2006/main" w="0">
            <a:solidFill>
              <a:srgbClr val="1B1B1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E8084D-EACC-465E-8913-2884207C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09800"/>
            <a:ext cx="217170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0000"/>
            </a:srgbClr>
          </a:solidFill>
          <a:ln xmlns:a="http://schemas.openxmlformats.org/drawingml/2006/main" w="0">
            <a:solidFill>
              <a:srgbClr val="000000">
                <a:alpha val="4000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49FB22-3D12-4D7A-B739-CC4A412A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14550"/>
            <a:ext cx="2171700" cy="344805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0A0F0D"/>
          </a:solidFill>
          <a:ln xmlns:a="http://schemas.openxmlformats.org/drawingml/2006/main" w="0">
            <a:solidFill>
              <a:srgbClr val="2D2D2D"/>
            </a:solidFill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d84e340dd44af4"/>
          <a:stretch xmlns:a="http://schemas.openxmlformats.org/drawingml/2006/main"/>
        </p:blipFill>
        <p:spPr>
          <a:xfrm xmlns:a="http://schemas.openxmlformats.org/drawingml/2006/main">
            <a:off x="3391336" y="2228850"/>
            <a:ext cx="1485028" cy="3219450"/>
          </a:xfrm>
          <a:prstGeom xmlns:a="http://schemas.openxmlformats.org/drawingml/2006/main" prst="round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1C9E56-B241-4520-9BB1-057C5F58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190750"/>
            <a:ext cx="76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B"/>
          </a:solidFill>
          <a:ln xmlns:a="http://schemas.openxmlformats.org/drawingml/2006/main" w="0">
            <a:solidFill>
              <a:srgbClr val="1B1B1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5B0BDA-D34A-410D-8EBB-BE8FF965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209800"/>
            <a:ext cx="217170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0000"/>
            </a:srgbClr>
          </a:solidFill>
          <a:ln xmlns:a="http://schemas.openxmlformats.org/drawingml/2006/main" w="0">
            <a:solidFill>
              <a:srgbClr val="000000">
                <a:alpha val="4000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B3BB0A-3BA5-48DD-8B39-F53432B3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14550"/>
            <a:ext cx="2171700" cy="344805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0A0F0D"/>
          </a:solidFill>
          <a:ln xmlns:a="http://schemas.openxmlformats.org/drawingml/2006/main" w="0">
            <a:solidFill>
              <a:srgbClr val="2D2D2D"/>
            </a:solidFill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10005a515845dd"/>
          <a:stretch xmlns:a="http://schemas.openxmlformats.org/drawingml/2006/main"/>
        </p:blipFill>
        <p:spPr>
          <a:xfrm xmlns:a="http://schemas.openxmlformats.org/drawingml/2006/main">
            <a:off x="5810686" y="2228850"/>
            <a:ext cx="1485028" cy="3219450"/>
          </a:xfrm>
          <a:prstGeom xmlns:a="http://schemas.openxmlformats.org/drawingml/2006/main" prst="round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BE7B5B-B82B-44D5-861D-BDF3C40E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90750"/>
            <a:ext cx="76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B"/>
          </a:solidFill>
          <a:ln xmlns:a="http://schemas.openxmlformats.org/drawingml/2006/main" w="0">
            <a:solidFill>
              <a:srgbClr val="1B1B1B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CE496E-3A24-40C7-B3AD-21E4C3A3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14550"/>
            <a:ext cx="3200400" cy="344805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10261E"/>
          </a:solidFill>
          <a:ln xmlns:a="http://schemas.openxmlformats.org/drawingml/2006/main" w="0">
            <a:solidFill>
              <a:srgbClr val="2D5E4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EC11D3-1BCB-4E9E-A007-C5E2A5945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57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4E9A54-AE5D-47A0-A5DF-ECF3B7C2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146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C2218"/>
                </a:solidFill>
              </a:defRPr>
            </a:pPr>
            <a:r>
              <a:rPr sz="1050" b="1">
                <a:solidFill>
                  <a:srgbClr val="0C2218"/>
                </a:solidFill>
              </a:rPr>
              <a:t>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1D21D7-9E34-44F6-833D-39D1F5A9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57450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FF9"/>
                </a:solidFill>
              </a:defRPr>
            </a:pPr>
            <a:r>
              <a:rPr sz="1350" b="1">
                <a:solidFill>
                  <a:srgbClr val="F4FFF9"/>
                </a:solidFill>
              </a:rPr>
              <a:t>进入学员班 Tab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09BC42-BA4A-4305-A37F-58905714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24150"/>
            <a:ext cx="2152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6D4C7"/>
                </a:solidFill>
              </a:defRPr>
            </a:pPr>
            <a:r>
              <a:rPr sz="1125" b="0">
                <a:solidFill>
                  <a:srgbClr val="B6D4C7"/>
                </a:solidFill>
              </a:rPr>
              <a:t>在课程管理里切到学员班，就能看到已有班级和创建入口。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7DA9ED-5E95-4129-B63B-10262F89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90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24F597-F1DE-402E-B360-E9C415CD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480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C2218"/>
                </a:solidFill>
              </a:defRPr>
            </a:pPr>
            <a:r>
              <a:rPr sz="1050" b="1">
                <a:solidFill>
                  <a:srgbClr val="0C2218"/>
                </a:solidFill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7BC13B-E9A8-4CE4-8D2A-EDB8A643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90900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FF9"/>
                </a:solidFill>
              </a:defRPr>
            </a:pPr>
            <a:r>
              <a:rPr sz="1350" b="1">
                <a:solidFill>
                  <a:srgbClr val="F4FFF9"/>
                </a:solidFill>
              </a:rPr>
              <a:t>创建班级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5BC9C1-B209-44AC-BC11-B1C351C48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57600"/>
            <a:ext cx="2152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6D4C7"/>
                </a:solidFill>
              </a:defRPr>
            </a:pPr>
            <a:r>
              <a:rPr sz="1125" b="0">
                <a:solidFill>
                  <a:srgbClr val="B6D4C7"/>
                </a:solidFill>
              </a:rPr>
              <a:t>输入班级名称，先把长期训练单元建立起来。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4C7225-1561-4FE4-BC15-9B839EA6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24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04ADFF-F6A6-4DA9-B532-1679DDBD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815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C2218"/>
                </a:solidFill>
              </a:defRPr>
            </a:pPr>
            <a:r>
              <a:rPr sz="1050" b="1">
                <a:solidFill>
                  <a:srgbClr val="0C2218"/>
                </a:solidFill>
              </a:rPr>
              <a:t>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070FFC-C22E-47DB-990A-1E64B987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324350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FF9"/>
                </a:solidFill>
              </a:defRPr>
            </a:pPr>
            <a:r>
              <a:rPr sz="1350" b="1">
                <a:solidFill>
                  <a:srgbClr val="F4FFF9"/>
                </a:solidFill>
              </a:rPr>
              <a:t>进入详情页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3E90D29-0F2A-455D-8BAA-99554A4AD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591050"/>
            <a:ext cx="2152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6D4C7"/>
                </a:solidFill>
              </a:defRPr>
            </a:pPr>
            <a:r>
              <a:rPr sz="1125" b="0">
                <a:solidFill>
                  <a:srgbClr val="B6D4C7"/>
                </a:solidFill>
              </a:rPr>
              <a:t>班级详情默认先看成员页，为后续添加学员做准备。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0E68652-F936-4348-B1D3-0733D792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579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7B7A3"/>
                </a:solidFill>
              </a:defRPr>
            </a:pPr>
            <a:r>
              <a:rPr sz="750" b="0">
                <a:solidFill>
                  <a:srgbClr val="87B7A3"/>
                </a:solidFill>
              </a:rPr>
              <a:t>SmashMate · 产品介绍与操作指引</a:t>
            </a:r>
          </a:p>
        </p:txBody>
      </p:sp>
    </p:spTree>
    <p:extLst>
      <p:ext uri="{BB962C8B-B14F-4D97-AF65-F5344CB8AC3E}">
        <p14:creationId xmlns:p14="http://schemas.microsoft.com/office/powerpoint/2010/main" val="17995691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6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8BFFBD7-9451-4079-B2CA-F6C68A0D95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E01969-A6F5-401D-8A29-E7F5FAE2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1238250"/>
            <a:ext cx="409575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>
              <a:alpha val="12157"/>
            </a:srgbClr>
          </a:solidFill>
          <a:ln xmlns:a="http://schemas.openxmlformats.org/drawingml/2006/main" w="0">
            <a:solidFill>
              <a:srgbClr val="FFD166">
                <a:alpha val="12157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41E525-3759-460A-8160-022F96AD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572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>
              <a:alpha val="8627"/>
            </a:srgbClr>
          </a:solidFill>
          <a:ln xmlns:a="http://schemas.openxmlformats.org/drawingml/2006/main" w="0">
            <a:solidFill>
              <a:srgbClr val="FFD166">
                <a:alpha val="8627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E76BD4-3E49-44F9-9BDA-E1FF7A7B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14350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D8A5">
              <a:alpha val="7059"/>
            </a:srgbClr>
          </a:solidFill>
          <a:ln xmlns:a="http://schemas.openxmlformats.org/drawingml/2006/main" w="0">
            <a:solidFill>
              <a:srgbClr val="61D8A5">
                <a:alpha val="7059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9EDC11-7DDA-40E4-9EF0-71220258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11163300" cy="590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17">
              <a:alpha val="90196"/>
            </a:srgbClr>
          </a:solidFill>
          <a:ln xmlns:a="http://schemas.openxmlformats.org/drawingml/2006/main" w="0">
            <a:solidFill>
              <a:srgbClr val="0B1D17">
                <a:alpha val="90196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C1D5A2-281E-4657-92C7-E48C844E3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E4B"/>
          </a:solidFill>
          <a:ln xmlns:a="http://schemas.openxmlformats.org/drawingml/2006/main" w="0">
            <a:solidFill>
              <a:srgbClr val="2D5E4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F06CE3-F35E-400B-A37F-16539B10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E4B"/>
          </a:solidFill>
          <a:ln xmlns:a="http://schemas.openxmlformats.org/drawingml/2006/main" w="0">
            <a:solidFill>
              <a:srgbClr val="2D5E4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972EAF-1019-47AC-9E46-E8294221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</a:defRPr>
            </a:pPr>
            <a:r>
              <a:rPr sz="900" b="1">
                <a:solidFill>
                  <a:srgbClr val="FFD166"/>
                </a:solidFill>
              </a:rPr>
              <a:t>COACH FLOW 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2358E9-F231-47FD-8FE7-8AE1B1A97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7239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4FFF9"/>
                </a:solidFill>
              </a:defRPr>
            </a:pPr>
            <a:r>
              <a:rPr sz="2325" b="1">
                <a:solidFill>
                  <a:srgbClr val="F4FFF9"/>
                </a:solidFill>
              </a:rPr>
              <a:t>添加学员与班级课程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03C0E8-9A94-4CDB-BBC8-486920D1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704850"/>
            <a:ext cx="685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D166"/>
                </a:solidFill>
              </a:defRPr>
            </a:pPr>
            <a:r>
              <a:rPr sz="1650" b="1">
                <a:solidFill>
                  <a:srgbClr val="FFD166"/>
                </a:solidFill>
              </a:rPr>
              <a:t>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32BD90-BBAF-4F17-B16E-DE74E8A6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590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6D4C7"/>
                </a:solidFill>
              </a:defRPr>
            </a:pPr>
            <a:r>
              <a:rPr sz="1350" b="0">
                <a:solidFill>
                  <a:srgbClr val="B6D4C7"/>
                </a:solidFill>
              </a:rPr>
              <a:t>班级不是静态容器，而是可以不断补充成员、补充课程，形成稳定运营节奏。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E44031-51B5-4E8F-8CAF-DBE8A4C0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217170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0000"/>
            </a:srgbClr>
          </a:solidFill>
          <a:ln xmlns:a="http://schemas.openxmlformats.org/drawingml/2006/main" w="0">
            <a:solidFill>
              <a:srgbClr val="000000">
                <a:alpha val="4000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6BEDF3-4503-45EB-8F7A-2CBBFA86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2171700" cy="344805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0A0F0D"/>
          </a:solidFill>
          <a:ln xmlns:a="http://schemas.openxmlformats.org/drawingml/2006/main" w="0">
            <a:solidFill>
              <a:srgbClr val="2D2D2D"/>
            </a:solidFill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62986ef7e7483a"/>
          <a:stretch xmlns:a="http://schemas.openxmlformats.org/drawingml/2006/main"/>
        </p:blipFill>
        <p:spPr>
          <a:xfrm xmlns:a="http://schemas.openxmlformats.org/drawingml/2006/main">
            <a:off x="971986" y="2228850"/>
            <a:ext cx="1485028" cy="3219450"/>
          </a:xfrm>
          <a:prstGeom xmlns:a="http://schemas.openxmlformats.org/drawingml/2006/main" prst="round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D26078-9C74-44E2-881F-CB9D5F2E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90750"/>
            <a:ext cx="76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B"/>
          </a:solidFill>
          <a:ln xmlns:a="http://schemas.openxmlformats.org/drawingml/2006/main" w="0">
            <a:solidFill>
              <a:srgbClr val="1B1B1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3B40B6-B79E-4EDE-BDE4-2B21BF51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09800"/>
            <a:ext cx="217170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0000"/>
            </a:srgbClr>
          </a:solidFill>
          <a:ln xmlns:a="http://schemas.openxmlformats.org/drawingml/2006/main" w="0">
            <a:solidFill>
              <a:srgbClr val="000000">
                <a:alpha val="4000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672306-A79F-4421-A81B-D25EB2496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14550"/>
            <a:ext cx="2171700" cy="344805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0A0F0D"/>
          </a:solidFill>
          <a:ln xmlns:a="http://schemas.openxmlformats.org/drawingml/2006/main" w="0">
            <a:solidFill>
              <a:srgbClr val="2D2D2D"/>
            </a:solidFill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87ab491fea4455"/>
          <a:stretch xmlns:a="http://schemas.openxmlformats.org/drawingml/2006/main"/>
        </p:blipFill>
        <p:spPr>
          <a:xfrm xmlns:a="http://schemas.openxmlformats.org/drawingml/2006/main">
            <a:off x="3391336" y="2228850"/>
            <a:ext cx="1485028" cy="3219450"/>
          </a:xfrm>
          <a:prstGeom xmlns:a="http://schemas.openxmlformats.org/drawingml/2006/main" prst="round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039CE6-233F-415E-AC2D-61E6457E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190750"/>
            <a:ext cx="76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B"/>
          </a:solidFill>
          <a:ln xmlns:a="http://schemas.openxmlformats.org/drawingml/2006/main" w="0">
            <a:solidFill>
              <a:srgbClr val="1B1B1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1CEC06-54E3-4DB7-A320-20E7AB74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209800"/>
            <a:ext cx="217170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0000"/>
            </a:srgbClr>
          </a:solidFill>
          <a:ln xmlns:a="http://schemas.openxmlformats.org/drawingml/2006/main" w="0">
            <a:solidFill>
              <a:srgbClr val="000000">
                <a:alpha val="4000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62ED9B-FCAB-499A-8B35-50AC0B0B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14550"/>
            <a:ext cx="2171700" cy="344805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0A0F0D"/>
          </a:solidFill>
          <a:ln xmlns:a="http://schemas.openxmlformats.org/drawingml/2006/main" w="0">
            <a:solidFill>
              <a:srgbClr val="2D2D2D"/>
            </a:solidFill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90093ee2fd4f22"/>
          <a:stretch xmlns:a="http://schemas.openxmlformats.org/drawingml/2006/main"/>
        </p:blipFill>
        <p:spPr>
          <a:xfrm xmlns:a="http://schemas.openxmlformats.org/drawingml/2006/main">
            <a:off x="5810686" y="2228850"/>
            <a:ext cx="1485028" cy="3219450"/>
          </a:xfrm>
          <a:prstGeom xmlns:a="http://schemas.openxmlformats.org/drawingml/2006/main" prst="round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85CDC2-E688-4A7D-9D71-80B35CFE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90750"/>
            <a:ext cx="76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B"/>
          </a:solidFill>
          <a:ln xmlns:a="http://schemas.openxmlformats.org/drawingml/2006/main" w="0">
            <a:solidFill>
              <a:srgbClr val="1B1B1B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33F6EB-D21C-4CE2-BF65-C143F083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14550"/>
            <a:ext cx="3200400" cy="344805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10261E"/>
          </a:solidFill>
          <a:ln xmlns:a="http://schemas.openxmlformats.org/drawingml/2006/main" w="0">
            <a:solidFill>
              <a:srgbClr val="2D5E4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AF376C-C4AB-4EA5-B4E0-B3B3AC66D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812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FF9"/>
                </a:solidFill>
              </a:defRPr>
            </a:pPr>
            <a:r>
              <a:rPr sz="1575" b="1">
                <a:solidFill>
                  <a:srgbClr val="F4FFF9"/>
                </a:solidFill>
              </a:rPr>
              <a:t>这页强调“班级运营”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D2097D-96D8-46E0-BBE3-EC153B61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81300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6F0E2"/>
                </a:solidFill>
              </a:defRPr>
            </a:pPr>
            <a:r>
              <a:rPr sz="1275" b="0">
                <a:solidFill>
                  <a:srgbClr val="F6F0E2"/>
                </a:solidFill>
              </a:rPr>
              <a:t>添加学员时可以按昵称或手机号搜索，适合线下认识后快速录入。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F6F0E2"/>
                </a:solidFill>
              </a:defRPr>
            </a:pPr>
            <a:r>
              <a:rPr sz="1275" b="0">
                <a:solidFill>
                  <a:srgbClr val="F6F0E2"/>
                </a:solidFill>
              </a:rPr>
              <a:t>创建课程时需要时间、球馆和训练内容，班级从“有学员”走向“有教学安排”。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2CA9B1-65B3-4724-AEF6-5A9C5B45A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95800"/>
            <a:ext cx="2571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261E"/>
          </a:solidFill>
          <a:ln xmlns:a="http://schemas.openxmlformats.org/drawingml/2006/main" w="0">
            <a:solidFill>
              <a:srgbClr val="2D5E4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501D89-3D89-4FE5-A23D-31963525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95800"/>
            <a:ext cx="95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39D98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E77414-E664-4372-8A60-552F9C86A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66725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FF9"/>
                </a:solidFill>
              </a:defRPr>
            </a:pPr>
            <a:r>
              <a:rPr sz="1275" b="1">
                <a:solidFill>
                  <a:srgbClr val="F4FFF9"/>
                </a:solidFill>
              </a:rPr>
              <a:t>成员沉淀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E9D997-8D9E-4320-AEAC-E827782C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0101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6D4C7"/>
                </a:solidFill>
              </a:defRPr>
            </a:pPr>
            <a:r>
              <a:rPr sz="1200" b="0">
                <a:solidFill>
                  <a:srgbClr val="B6D4C7"/>
                </a:solidFill>
              </a:rPr>
              <a:t>班级成员不是一次性报名，而是可以持续维护。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0E44E9-2F8F-446F-BBD7-2F71722B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314950"/>
            <a:ext cx="2571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261E"/>
          </a:solidFill>
          <a:ln xmlns:a="http://schemas.openxmlformats.org/drawingml/2006/main" w="0">
            <a:solidFill>
              <a:srgbClr val="2D5E4B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0338BA-6C35-49F0-8F4D-5BBAF22A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314950"/>
            <a:ext cx="95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D8A5"/>
          </a:solidFill>
          <a:ln xmlns:a="http://schemas.openxmlformats.org/drawingml/2006/main" w="0">
            <a:solidFill>
              <a:srgbClr val="61D8A5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D7D042-F1FF-46E1-8244-17CEEC1E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48640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FF9"/>
                </a:solidFill>
              </a:defRPr>
            </a:pPr>
            <a:r>
              <a:rPr sz="1275" b="1">
                <a:solidFill>
                  <a:srgbClr val="F4FFF9"/>
                </a:solidFill>
              </a:rPr>
              <a:t>课程节奏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B2CFF8-6991-43FE-812E-E7B118A5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82930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6D4C7"/>
                </a:solidFill>
              </a:defRPr>
            </a:pPr>
            <a:r>
              <a:rPr sz="1200" b="0">
                <a:solidFill>
                  <a:srgbClr val="B6D4C7"/>
                </a:solidFill>
              </a:rPr>
              <a:t>同一班级下累积多节课，天然适合长期训练。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81EDF5-8116-45AD-8C55-8E41667A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579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7B7A3"/>
                </a:solidFill>
              </a:defRPr>
            </a:pPr>
            <a:r>
              <a:rPr sz="750" b="0">
                <a:solidFill>
                  <a:srgbClr val="87B7A3"/>
                </a:solidFill>
              </a:rPr>
              <a:t>SmashMate · 产品介绍与操作指引</a:t>
            </a:r>
          </a:p>
        </p:txBody>
      </p:sp>
    </p:spTree>
    <p:extLst>
      <p:ext uri="{BB962C8B-B14F-4D97-AF65-F5344CB8AC3E}">
        <p14:creationId xmlns:p14="http://schemas.microsoft.com/office/powerpoint/2010/main" val="1146972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6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8BFFBD7-9451-4079-B2CA-F6C68A0D95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E204AD-9690-435E-A94F-E2C2FC31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1238250"/>
            <a:ext cx="409575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>
              <a:alpha val="12157"/>
            </a:srgbClr>
          </a:solidFill>
          <a:ln xmlns:a="http://schemas.openxmlformats.org/drawingml/2006/main" w="0">
            <a:solidFill>
              <a:srgbClr val="FFD166">
                <a:alpha val="12157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DA0545-72C1-490E-A57F-25D149E6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572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>
              <a:alpha val="8627"/>
            </a:srgbClr>
          </a:solidFill>
          <a:ln xmlns:a="http://schemas.openxmlformats.org/drawingml/2006/main" w="0">
            <a:solidFill>
              <a:srgbClr val="FFD166">
                <a:alpha val="8627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B5A627-4165-46D7-BDF5-DDE8F8D1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14350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D8A5">
              <a:alpha val="7059"/>
            </a:srgbClr>
          </a:solidFill>
          <a:ln xmlns:a="http://schemas.openxmlformats.org/drawingml/2006/main" w="0">
            <a:solidFill>
              <a:srgbClr val="61D8A5">
                <a:alpha val="7059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BF168B-6494-4284-8C04-89CF2D70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11163300" cy="590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17">
              <a:alpha val="90196"/>
            </a:srgbClr>
          </a:solidFill>
          <a:ln xmlns:a="http://schemas.openxmlformats.org/drawingml/2006/main" w="0">
            <a:solidFill>
              <a:srgbClr val="0B1D17">
                <a:alpha val="90196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3F04D2-8964-4448-B418-7A37FFB9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E4B"/>
          </a:solidFill>
          <a:ln xmlns:a="http://schemas.openxmlformats.org/drawingml/2006/main" w="0">
            <a:solidFill>
              <a:srgbClr val="2D5E4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EF6E90-1E4D-4445-BE84-934AC58C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E4B"/>
          </a:solidFill>
          <a:ln xmlns:a="http://schemas.openxmlformats.org/drawingml/2006/main" w="0">
            <a:solidFill>
              <a:srgbClr val="2D5E4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6511B0-1371-44B7-8913-CCD40D17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</a:defRPr>
            </a:pPr>
            <a:r>
              <a:rPr sz="900" b="1">
                <a:solidFill>
                  <a:srgbClr val="FFD166"/>
                </a:solidFill>
              </a:rPr>
              <a:t>COACH FLOW 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6DE021-312A-4439-AEC2-8FB34992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7239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4FFF9"/>
                </a:solidFill>
              </a:defRPr>
            </a:pPr>
            <a:r>
              <a:rPr sz="2325" b="1">
                <a:solidFill>
                  <a:srgbClr val="F4FFF9"/>
                </a:solidFill>
              </a:rPr>
              <a:t>我的学员：统一沉淀学员关系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088BAB-0144-4B2E-840B-EA8F56FA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704850"/>
            <a:ext cx="685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D166"/>
                </a:solidFill>
              </a:defRPr>
            </a:pPr>
            <a:r>
              <a:rPr sz="1650" b="1">
                <a:solidFill>
                  <a:srgbClr val="FFD166"/>
                </a:solidFill>
              </a:rPr>
              <a:t>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5E853D-F4E2-493A-9805-B453A20B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533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6D4C7"/>
                </a:solidFill>
              </a:defRPr>
            </a:pPr>
            <a:r>
              <a:rPr sz="1350" b="0">
                <a:solidFill>
                  <a:srgbClr val="B6D4C7"/>
                </a:solidFill>
              </a:rPr>
              <a:t>除了班级维度，教练还有一个跨课程、跨来源的统一学员视图。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4C2321-C6BD-4987-85CE-D5C8C8D1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2533650" cy="386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0000"/>
            </a:srgbClr>
          </a:solidFill>
          <a:ln xmlns:a="http://schemas.openxmlformats.org/drawingml/2006/main" w="0">
            <a:solidFill>
              <a:srgbClr val="000000">
                <a:alpha val="4000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190F14-487F-4546-96BA-47E6F127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533650" cy="386715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0A0F0D"/>
          </a:solidFill>
          <a:ln xmlns:a="http://schemas.openxmlformats.org/drawingml/2006/main" w="0">
            <a:solidFill>
              <a:srgbClr val="2D2D2D"/>
            </a:solidFill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bea9920181452a"/>
          <a:stretch xmlns:a="http://schemas.openxmlformats.org/drawingml/2006/main"/>
        </p:blipFill>
        <p:spPr>
          <a:xfrm xmlns:a="http://schemas.openxmlformats.org/drawingml/2006/main">
            <a:off x="1113452" y="2152650"/>
            <a:ext cx="1678345" cy="3638550"/>
          </a:xfrm>
          <a:prstGeom xmlns:a="http://schemas.openxmlformats.org/drawingml/2006/main" prst="round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FE779C-6787-4ED3-AE22-6D28A038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114550"/>
            <a:ext cx="76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B"/>
          </a:solidFill>
          <a:ln xmlns:a="http://schemas.openxmlformats.org/drawingml/2006/main" w="0">
            <a:solidFill>
              <a:srgbClr val="1B1B1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345B4B-3197-44ED-B09E-A58032F9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33600"/>
            <a:ext cx="2533650" cy="386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0000"/>
            </a:srgbClr>
          </a:solidFill>
          <a:ln xmlns:a="http://schemas.openxmlformats.org/drawingml/2006/main" w="0">
            <a:solidFill>
              <a:srgbClr val="000000">
                <a:alpha val="4000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0B7C6E-728C-4634-9D30-95E82ECE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38350"/>
            <a:ext cx="2533650" cy="386715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0A0F0D"/>
          </a:solidFill>
          <a:ln xmlns:a="http://schemas.openxmlformats.org/drawingml/2006/main" w="0">
            <a:solidFill>
              <a:srgbClr val="2D2D2D"/>
            </a:solidFill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a573294b55423b"/>
          <a:stretch xmlns:a="http://schemas.openxmlformats.org/drawingml/2006/main"/>
        </p:blipFill>
        <p:spPr>
          <a:xfrm xmlns:a="http://schemas.openxmlformats.org/drawingml/2006/main">
            <a:off x="3894752" y="2152650"/>
            <a:ext cx="1678345" cy="3638550"/>
          </a:xfrm>
          <a:prstGeom xmlns:a="http://schemas.openxmlformats.org/drawingml/2006/main" prst="round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AE1476-189D-4D11-B573-55F34838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114550"/>
            <a:ext cx="76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B"/>
          </a:solidFill>
          <a:ln xmlns:a="http://schemas.openxmlformats.org/drawingml/2006/main" w="0">
            <a:solidFill>
              <a:srgbClr val="1B1B1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5AC13C-3503-47BD-8BD5-F5FB9F8A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38350"/>
            <a:ext cx="4838700" cy="3867150"/>
          </a:xfrm>
          <a:prstGeom xmlns:a="http://schemas.openxmlformats.org/drawingml/2006/main" prst="roundRect">
            <a:avLst>
              <a:gd name="adj" fmla="val 1970"/>
            </a:avLst>
          </a:prstGeom>
          <a:solidFill xmlns:a="http://schemas.openxmlformats.org/drawingml/2006/main">
            <a:srgbClr val="10261E"/>
          </a:solidFill>
          <a:ln xmlns:a="http://schemas.openxmlformats.org/drawingml/2006/main" w="0">
            <a:solidFill>
              <a:srgbClr val="2D5E4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F9DF27-810C-4425-9A7E-DE71E32D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381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B836E5-2A4D-4305-9D1F-31E477E7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384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C2218"/>
                </a:solidFill>
              </a:defRPr>
            </a:pPr>
            <a:r>
              <a:rPr sz="1050" b="1">
                <a:solidFill>
                  <a:srgbClr val="0C2218"/>
                </a:solidFill>
              </a:rPr>
              <a:t>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1E72DC-0E28-468D-9424-F7E1E5A1B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81250"/>
            <a:ext cx="3771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FF9"/>
                </a:solidFill>
              </a:defRPr>
            </a:pPr>
            <a:r>
              <a:rPr sz="1350" b="1">
                <a:solidFill>
                  <a:srgbClr val="F4FFF9"/>
                </a:solidFill>
              </a:rPr>
              <a:t>列表页先做筛选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FA0881-CD28-4DA4-AC96-30FA051A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47950"/>
            <a:ext cx="377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6D4C7"/>
                </a:solidFill>
              </a:defRPr>
            </a:pPr>
            <a:r>
              <a:rPr sz="1125" b="0">
                <a:solidFill>
                  <a:srgbClr val="B6D4C7"/>
                </a:solidFill>
              </a:rPr>
              <a:t>搜索、标签和来源信息让教练先找到想管理的学员。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3A5292-413C-4CE8-A182-6C627D0F3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52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554408-A265-4FC8-A49C-A60F9F73B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4099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C2218"/>
                </a:solidFill>
              </a:defRPr>
            </a:pPr>
            <a:r>
              <a:rPr sz="1050" b="1">
                <a:solidFill>
                  <a:srgbClr val="0C2218"/>
                </a:solidFill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E96C6F-9EFF-4793-9609-02ADCDE9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52800"/>
            <a:ext cx="3771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FF9"/>
                </a:solidFill>
              </a:defRPr>
            </a:pPr>
            <a:r>
              <a:rPr sz="1350" b="1">
                <a:solidFill>
                  <a:srgbClr val="F4FFF9"/>
                </a:solidFill>
              </a:rPr>
              <a:t>详情页看关系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C35BF3-2766-4D17-9F28-F3E58302F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19500"/>
            <a:ext cx="377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6D4C7"/>
                </a:solidFill>
              </a:defRPr>
            </a:pPr>
            <a:r>
              <a:rPr sz="1125" b="0">
                <a:solidFill>
                  <a:srgbClr val="B6D4C7"/>
                </a:solidFill>
              </a:rPr>
              <a:t>学员详情展示来源、标签、所属学员班和历史课程。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950C7D-3C59-4080-9825-2C6DA62A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324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853B4B-6A9F-484B-9205-2B68BBD5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3815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C2218"/>
                </a:solidFill>
              </a:defRPr>
            </a:pPr>
            <a:r>
              <a:rPr sz="1050" b="1">
                <a:solidFill>
                  <a:srgbClr val="0C2218"/>
                </a:solidFill>
              </a:rPr>
              <a:t>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F1D661-95A8-43DD-84E7-D73D9AF9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324350"/>
            <a:ext cx="3771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FF9"/>
                </a:solidFill>
              </a:defRPr>
            </a:pPr>
            <a:r>
              <a:rPr sz="1350" b="1">
                <a:solidFill>
                  <a:srgbClr val="F4FFF9"/>
                </a:solidFill>
              </a:rPr>
              <a:t>下一步动作清晰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20466F-43DA-4000-A13D-109C4E770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591050"/>
            <a:ext cx="377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6D4C7"/>
                </a:solidFill>
              </a:defRPr>
            </a:pPr>
            <a:r>
              <a:rPr sz="1125" b="0">
                <a:solidFill>
                  <a:srgbClr val="B6D4C7"/>
                </a:solidFill>
              </a:rPr>
              <a:t>从详情页继续安排课程，而不是跳回其他页面重新找入口。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0735F8-5687-4969-8BA4-EFFE5BFC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579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7B7A3"/>
                </a:solidFill>
              </a:defRPr>
            </a:pPr>
            <a:r>
              <a:rPr sz="750" b="0">
                <a:solidFill>
                  <a:srgbClr val="87B7A3"/>
                </a:solidFill>
              </a:rPr>
              <a:t>SmashMate · 产品介绍与操作指引</a:t>
            </a:r>
          </a:p>
        </p:txBody>
      </p:sp>
    </p:spTree>
    <p:extLst>
      <p:ext uri="{BB962C8B-B14F-4D97-AF65-F5344CB8AC3E}">
        <p14:creationId xmlns:p14="http://schemas.microsoft.com/office/powerpoint/2010/main" val="17088302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6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8BFFBD7-9451-4079-B2CA-F6C68A0D95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DC17FD-0A70-4DA3-A2E6-4954BE18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1238250"/>
            <a:ext cx="409575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>
              <a:alpha val="12157"/>
            </a:srgbClr>
          </a:solidFill>
          <a:ln xmlns:a="http://schemas.openxmlformats.org/drawingml/2006/main" w="0">
            <a:solidFill>
              <a:srgbClr val="FFD166">
                <a:alpha val="12157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10EF89-7CC7-49EF-8D63-87DD35BCD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572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>
              <a:alpha val="8627"/>
            </a:srgbClr>
          </a:solidFill>
          <a:ln xmlns:a="http://schemas.openxmlformats.org/drawingml/2006/main" w="0">
            <a:solidFill>
              <a:srgbClr val="FFD166">
                <a:alpha val="8627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74E00E-D55C-4293-86BB-BE6CB8D3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14350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D8A5">
              <a:alpha val="7059"/>
            </a:srgbClr>
          </a:solidFill>
          <a:ln xmlns:a="http://schemas.openxmlformats.org/drawingml/2006/main" w="0">
            <a:solidFill>
              <a:srgbClr val="61D8A5">
                <a:alpha val="7059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106BC9-E78D-4B00-B90C-331A73A44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11163300" cy="590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17">
              <a:alpha val="90196"/>
            </a:srgbClr>
          </a:solidFill>
          <a:ln xmlns:a="http://schemas.openxmlformats.org/drawingml/2006/main" w="0">
            <a:solidFill>
              <a:srgbClr val="0B1D17">
                <a:alpha val="90196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EC66B5-A241-4CF0-8781-34C06F1E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E4B"/>
          </a:solidFill>
          <a:ln xmlns:a="http://schemas.openxmlformats.org/drawingml/2006/main" w="0">
            <a:solidFill>
              <a:srgbClr val="2D5E4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0DB82D-7580-4620-9831-3A699BB1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E4B"/>
          </a:solidFill>
          <a:ln xmlns:a="http://schemas.openxmlformats.org/drawingml/2006/main" w="0">
            <a:solidFill>
              <a:srgbClr val="2D5E4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9E7137-21B5-4EAE-B09C-05ED8CD0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</a:defRPr>
            </a:pPr>
            <a:r>
              <a:rPr sz="900" b="1">
                <a:solidFill>
                  <a:srgbClr val="FFD166"/>
                </a:solidFill>
              </a:rPr>
              <a:t>COACH FLOW 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4B7C36-2475-406E-91A2-F46FCF7B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7239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4FFF9"/>
                </a:solidFill>
              </a:defRPr>
            </a:pPr>
            <a:r>
              <a:rPr sz="2325" b="1">
                <a:solidFill>
                  <a:srgbClr val="F4FFF9"/>
                </a:solidFill>
              </a:rPr>
              <a:t>给 TA 排私教课：从学员详情直接安排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08C9BA-DFA1-46BC-97C3-85BBFF5F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704850"/>
            <a:ext cx="685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D166"/>
                </a:solidFill>
              </a:defRPr>
            </a:pPr>
            <a:r>
              <a:rPr sz="1650" b="1">
                <a:solidFill>
                  <a:srgbClr val="FFD166"/>
                </a:solidFill>
              </a:rPr>
              <a:t>13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A53E05-2826-4F73-9978-DE81465B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590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6D4C7"/>
                </a:solidFill>
              </a:defRPr>
            </a:pPr>
            <a:r>
              <a:rPr sz="1350" b="0">
                <a:solidFill>
                  <a:srgbClr val="B6D4C7"/>
                </a:solidFill>
              </a:rPr>
              <a:t>这是教练端最有代表性的高频动作：围绕具体学员，直接完成下节私教安排。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A7735B-C170-4A23-AB33-1A006802D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095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0000"/>
            </a:srgbClr>
          </a:solidFill>
          <a:ln xmlns:a="http://schemas.openxmlformats.org/drawingml/2006/main" w="0">
            <a:solidFill>
              <a:srgbClr val="000000">
                <a:alpha val="4000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66015F-5189-44FB-928F-5D1421CB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2095500" cy="3429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A0F0D"/>
          </a:solidFill>
          <a:ln xmlns:a="http://schemas.openxmlformats.org/drawingml/2006/main" w="0">
            <a:solidFill>
              <a:srgbClr val="2D2D2D"/>
            </a:solidFill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88874c25e24eab"/>
          <a:stretch xmlns:a="http://schemas.openxmlformats.org/drawingml/2006/main"/>
        </p:blipFill>
        <p:spPr>
          <a:xfrm xmlns:a="http://schemas.openxmlformats.org/drawingml/2006/main">
            <a:off x="881130" y="2209800"/>
            <a:ext cx="1476241" cy="3200400"/>
          </a:xfrm>
          <a:prstGeom xmlns:a="http://schemas.openxmlformats.org/drawingml/2006/main" prst="round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5A7357-EAD4-4D3A-8C26-2B97EAD3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71700"/>
            <a:ext cx="76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B"/>
          </a:solidFill>
          <a:ln xmlns:a="http://schemas.openxmlformats.org/drawingml/2006/main" w="0">
            <a:solidFill>
              <a:srgbClr val="1B1B1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9EBE87-4D5D-4085-91F3-B215F2D4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190750"/>
            <a:ext cx="2095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0000"/>
            </a:srgbClr>
          </a:solidFill>
          <a:ln xmlns:a="http://schemas.openxmlformats.org/drawingml/2006/main" w="0">
            <a:solidFill>
              <a:srgbClr val="000000">
                <a:alpha val="4000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6CB817-F9F7-49F5-9C24-4610716B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95500"/>
            <a:ext cx="2095500" cy="3429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A0F0D"/>
          </a:solidFill>
          <a:ln xmlns:a="http://schemas.openxmlformats.org/drawingml/2006/main" w="0">
            <a:solidFill>
              <a:srgbClr val="2D2D2D"/>
            </a:solidFill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39025a5cf141f8"/>
          <a:stretch xmlns:a="http://schemas.openxmlformats.org/drawingml/2006/main"/>
        </p:blipFill>
        <p:spPr>
          <a:xfrm xmlns:a="http://schemas.openxmlformats.org/drawingml/2006/main">
            <a:off x="3205230" y="2209800"/>
            <a:ext cx="1476241" cy="3200400"/>
          </a:xfrm>
          <a:prstGeom xmlns:a="http://schemas.openxmlformats.org/drawingml/2006/main" prst="round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B7AD81-FE6D-4553-A4D6-A424D7BC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71700"/>
            <a:ext cx="76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B"/>
          </a:solidFill>
          <a:ln xmlns:a="http://schemas.openxmlformats.org/drawingml/2006/main" w="0">
            <a:solidFill>
              <a:srgbClr val="1B1B1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088FE7-E804-4658-A310-3D0442FD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90750"/>
            <a:ext cx="2095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0000"/>
            </a:srgbClr>
          </a:solidFill>
          <a:ln xmlns:a="http://schemas.openxmlformats.org/drawingml/2006/main" w="0">
            <a:solidFill>
              <a:srgbClr val="000000">
                <a:alpha val="4000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247245-ED5F-4240-9208-048C1E87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095500"/>
            <a:ext cx="2095500" cy="3429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A0F0D"/>
          </a:solidFill>
          <a:ln xmlns:a="http://schemas.openxmlformats.org/drawingml/2006/main" w="0">
            <a:solidFill>
              <a:srgbClr val="2D2D2D"/>
            </a:solidFill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f45efb569b4f2b"/>
          <a:stretch xmlns:a="http://schemas.openxmlformats.org/drawingml/2006/main"/>
        </p:blipFill>
        <p:spPr>
          <a:xfrm xmlns:a="http://schemas.openxmlformats.org/drawingml/2006/main">
            <a:off x="5529330" y="2209800"/>
            <a:ext cx="1476241" cy="3200400"/>
          </a:xfrm>
          <a:prstGeom xmlns:a="http://schemas.openxmlformats.org/drawingml/2006/main" prst="round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A6F944-7360-4949-8C92-7221C2EA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171700"/>
            <a:ext cx="76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B"/>
          </a:solidFill>
          <a:ln xmlns:a="http://schemas.openxmlformats.org/drawingml/2006/main" w="0">
            <a:solidFill>
              <a:srgbClr val="1B1B1B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5B0D21-818E-4413-82D1-761EF908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95500"/>
            <a:ext cx="35052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0261E"/>
          </a:solidFill>
          <a:ln xmlns:a="http://schemas.openxmlformats.org/drawingml/2006/main" w="0">
            <a:solidFill>
              <a:srgbClr val="2D5E4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C0825A-F800-4CA6-8D01-EB6A8899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43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FF9"/>
                </a:solidFill>
              </a:defRPr>
            </a:pPr>
            <a:r>
              <a:rPr sz="1575" b="1">
                <a:solidFill>
                  <a:srgbClr val="F4FFF9"/>
                </a:solidFill>
              </a:rPr>
              <a:t>为什么这页最重要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7EDA42-DA68-4BB6-B2FD-35478423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43200"/>
            <a:ext cx="2857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6F0E2"/>
                </a:solidFill>
              </a:defRPr>
            </a:pPr>
            <a:r>
              <a:rPr sz="1275" b="0">
                <a:solidFill>
                  <a:srgbClr val="F6F0E2"/>
                </a:solidFill>
              </a:rPr>
              <a:t>因为它把“学员关系”直接转成“课程动作”。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F6F0E2"/>
                </a:solidFill>
              </a:defRPr>
            </a:pPr>
            <a:r>
              <a:rPr sz="1275" b="0">
                <a:solidFill>
                  <a:srgbClr val="F6F0E2"/>
                </a:solidFill>
              </a:rPr>
              <a:t>教练不需要先去维护一堆时段，再倒推对应学员；而是从学员详情出发，输入时间、球馆和训练内容，立刻生成下一节课。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538FB1-1E86-45DC-9757-34683491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86250"/>
            <a:ext cx="2857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261E"/>
          </a:solidFill>
          <a:ln xmlns:a="http://schemas.openxmlformats.org/drawingml/2006/main" w="0">
            <a:solidFill>
              <a:srgbClr val="2D5E4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B7BC66-6CD1-43E5-9B07-2B4144F6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86250"/>
            <a:ext cx="95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0F23A7-6C59-4E7A-A606-6C384CDC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577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FF9"/>
                </a:solidFill>
              </a:defRPr>
            </a:pPr>
            <a:r>
              <a:rPr sz="1275" b="1">
                <a:solidFill>
                  <a:srgbClr val="F4FFF9"/>
                </a:solidFill>
              </a:rPr>
              <a:t>更短路径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30FC3F-A3C9-4CB8-BB5F-A535BF2B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0060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6D4C7"/>
                </a:solidFill>
              </a:defRPr>
            </a:pPr>
            <a:r>
              <a:rPr sz="1200" b="0">
                <a:solidFill>
                  <a:srgbClr val="B6D4C7"/>
                </a:solidFill>
              </a:rPr>
              <a:t>入口就在学员详情页，动作集中。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54B465-051A-470B-895A-221E9095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105400"/>
            <a:ext cx="2857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261E"/>
          </a:solidFill>
          <a:ln xmlns:a="http://schemas.openxmlformats.org/drawingml/2006/main" w="0">
            <a:solidFill>
              <a:srgbClr val="2D5E4B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12F4B7-2B90-4D73-A23D-7ECC6CBD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105400"/>
            <a:ext cx="95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39D98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E94277-F3A2-4660-BDA4-43379E8C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2768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FF9"/>
                </a:solidFill>
              </a:defRPr>
            </a:pPr>
            <a:r>
              <a:rPr sz="1275" b="1">
                <a:solidFill>
                  <a:srgbClr val="F4FFF9"/>
                </a:solidFill>
              </a:rPr>
              <a:t>更强运营感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91CBAF-AAEE-4750-B1DA-AF091A88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61975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6D4C7"/>
                </a:solidFill>
              </a:defRPr>
            </a:pPr>
            <a:r>
              <a:rPr sz="1200" b="0">
                <a:solidFill>
                  <a:srgbClr val="B6D4C7"/>
                </a:solidFill>
              </a:rPr>
              <a:t>生成下节课后，学员关系会继续沉淀在同一页面。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3DB311-7077-46D7-93D7-82C518E3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579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7B7A3"/>
                </a:solidFill>
              </a:defRPr>
            </a:pPr>
            <a:r>
              <a:rPr sz="750" b="0">
                <a:solidFill>
                  <a:srgbClr val="87B7A3"/>
                </a:solidFill>
              </a:rPr>
              <a:t>SmashMate · 产品介绍与操作指引</a:t>
            </a:r>
          </a:p>
        </p:txBody>
      </p:sp>
    </p:spTree>
    <p:extLst>
      <p:ext uri="{BB962C8B-B14F-4D97-AF65-F5344CB8AC3E}">
        <p14:creationId xmlns:p14="http://schemas.microsoft.com/office/powerpoint/2010/main" val="167491815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6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8BFFBD7-9451-4079-B2CA-F6C68A0D95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A6FDAE-8FEC-4F1C-A098-0BD80936F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1238250"/>
            <a:ext cx="409575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>
              <a:alpha val="12157"/>
            </a:srgbClr>
          </a:solidFill>
          <a:ln xmlns:a="http://schemas.openxmlformats.org/drawingml/2006/main" w="0">
            <a:solidFill>
              <a:srgbClr val="39D98A">
                <a:alpha val="12157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08FFE7-674D-4388-B180-55F1CB4C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572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>
              <a:alpha val="8627"/>
            </a:srgbClr>
          </a:solidFill>
          <a:ln xmlns:a="http://schemas.openxmlformats.org/drawingml/2006/main" w="0">
            <a:solidFill>
              <a:srgbClr val="FFD166">
                <a:alpha val="8627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A48FD8-0E7F-4080-A46C-9496D771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14350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D8A5">
              <a:alpha val="7059"/>
            </a:srgbClr>
          </a:solidFill>
          <a:ln xmlns:a="http://schemas.openxmlformats.org/drawingml/2006/main" w="0">
            <a:solidFill>
              <a:srgbClr val="61D8A5">
                <a:alpha val="7059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4D1ED7-D4B3-4CEC-8ADD-6E83E6D0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11163300" cy="590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17">
              <a:alpha val="90196"/>
            </a:srgbClr>
          </a:solidFill>
          <a:ln xmlns:a="http://schemas.openxmlformats.org/drawingml/2006/main" w="0">
            <a:solidFill>
              <a:srgbClr val="0B1D17">
                <a:alpha val="90196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8E80A8-C4FD-4E2B-B625-7EF0671F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E4B"/>
          </a:solidFill>
          <a:ln xmlns:a="http://schemas.openxmlformats.org/drawingml/2006/main" w="0">
            <a:solidFill>
              <a:srgbClr val="2D5E4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E7128B-2ECF-468B-80FA-8BED44459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E4B"/>
          </a:solidFill>
          <a:ln xmlns:a="http://schemas.openxmlformats.org/drawingml/2006/main" w="0">
            <a:solidFill>
              <a:srgbClr val="2D5E4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E5DCCB-923E-4C5A-AC73-AAE48545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9D98A"/>
                </a:solidFill>
              </a:defRPr>
            </a:pPr>
            <a:r>
              <a:rPr sz="900" b="1">
                <a:solidFill>
                  <a:srgbClr val="39D98A"/>
                </a:solidFill>
              </a:rPr>
              <a:t>SUMMARY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99151A-D8C3-4CD9-A90C-E0D27742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7239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4FFF9"/>
                </a:solidFill>
              </a:defRPr>
            </a:pPr>
            <a:r>
              <a:rPr sz="2325" b="1">
                <a:solidFill>
                  <a:srgbClr val="F4FFF9"/>
                </a:solidFill>
              </a:rPr>
              <a:t>SmashMate 把两端流程都结构化了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0DC53D-1A87-4D03-83EB-CCAEE73FD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704850"/>
            <a:ext cx="685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39D98A"/>
                </a:solidFill>
              </a:defRPr>
            </a:pPr>
            <a:r>
              <a:rPr sz="1650" b="1">
                <a:solidFill>
                  <a:srgbClr val="39D98A"/>
                </a:solidFill>
              </a:rPr>
              <a:t>14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B541F9-CC8E-4C45-863C-A3699C2E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628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6D4C7"/>
                </a:solidFill>
              </a:defRPr>
            </a:pPr>
            <a:r>
              <a:rPr sz="1350" b="0">
                <a:solidFill>
                  <a:srgbClr val="B6D4C7"/>
                </a:solidFill>
              </a:rPr>
              <a:t>最后回到产品价值：普通用户更容易参与，教练更容易管理，平台更容易形成长期关系。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F86089-04BC-4829-A4AD-5086DCBB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32004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0261E"/>
          </a:solidFill>
          <a:ln xmlns:a="http://schemas.openxmlformats.org/drawingml/2006/main" w="0">
            <a:solidFill>
              <a:srgbClr val="2D5E4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7ADBC9-AA80-4084-B34B-7A4A3D40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952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D8A5"/>
          </a:solidFill>
          <a:ln xmlns:a="http://schemas.openxmlformats.org/drawingml/2006/main" w="0">
            <a:solidFill>
              <a:srgbClr val="61D8A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59B040-01A5-482D-8B13-CF64EF92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FF9"/>
                </a:solidFill>
              </a:defRPr>
            </a:pPr>
            <a:r>
              <a:rPr sz="1275" b="1">
                <a:solidFill>
                  <a:srgbClr val="F4FFF9"/>
                </a:solidFill>
              </a:rPr>
              <a:t>对普通用户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B15E5D-C9A5-4884-9BDF-468BA262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24150"/>
            <a:ext cx="28194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6D4C7"/>
                </a:solidFill>
              </a:defRPr>
            </a:pPr>
            <a:r>
              <a:rPr sz="1200" b="0">
                <a:solidFill>
                  <a:srgbClr val="B6D4C7"/>
                </a:solidFill>
              </a:rPr>
              <a:t>更容易发现活动和教练，入口明确，路径连续，参与感更强。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C9CFBB-295B-4BD9-B41F-514CB3CD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209800"/>
            <a:ext cx="32004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0261E"/>
          </a:solidFill>
          <a:ln xmlns:a="http://schemas.openxmlformats.org/drawingml/2006/main" w="0">
            <a:solidFill>
              <a:srgbClr val="2D5E4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8B987F-E7D7-49AD-A5F0-AFF76778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209800"/>
            <a:ext cx="952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D5098C-F65B-4796-8B00-FDF7E768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81250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FF9"/>
                </a:solidFill>
              </a:defRPr>
            </a:pPr>
            <a:r>
              <a:rPr sz="1275" b="1">
                <a:solidFill>
                  <a:srgbClr val="F4FFF9"/>
                </a:solidFill>
              </a:rPr>
              <a:t>对教练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506F65-281B-4419-8867-C3C95D13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24150"/>
            <a:ext cx="28194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6D4C7"/>
                </a:solidFill>
              </a:defRPr>
            </a:pPr>
            <a:r>
              <a:rPr sz="1200" b="0">
                <a:solidFill>
                  <a:srgbClr val="B6D4C7"/>
                </a:solidFill>
              </a:rPr>
              <a:t>课程、学员、班级和私教安排被统一组织，工作台心智更完整。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A189DE-096D-498E-9D07-9BE10482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09800"/>
            <a:ext cx="35814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0261E"/>
          </a:solidFill>
          <a:ln xmlns:a="http://schemas.openxmlformats.org/drawingml/2006/main" w="0">
            <a:solidFill>
              <a:srgbClr val="2D5E4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9CE4EB-A4E8-409A-B98F-60A984DF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09800"/>
            <a:ext cx="952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39D98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46988B-991B-4A09-B705-570834F1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81250"/>
            <a:ext cx="3200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FF9"/>
                </a:solidFill>
              </a:defRPr>
            </a:pPr>
            <a:r>
              <a:rPr sz="1275" b="1">
                <a:solidFill>
                  <a:srgbClr val="F4FFF9"/>
                </a:solidFill>
              </a:rPr>
              <a:t>对平台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BE43A3-1316-4A5B-89DC-F8530C4B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724150"/>
            <a:ext cx="32004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6D4C7"/>
                </a:solidFill>
              </a:defRPr>
            </a:pPr>
            <a:r>
              <a:rPr sz="1200" b="0">
                <a:solidFill>
                  <a:srgbClr val="B6D4C7"/>
                </a:solidFill>
              </a:rPr>
              <a:t>把分散在群聊里的组织动作，沉淀成可追踪、可回看、可复用的流程。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759C14-F2D5-405B-A665-2252F56A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1047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0261E"/>
          </a:solidFill>
          <a:ln xmlns:a="http://schemas.openxmlformats.org/drawingml/2006/main" w="0">
            <a:solidFill>
              <a:srgbClr val="2D5E4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610321-9055-49D1-A979-95B3C9F1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434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FF9"/>
                </a:solidFill>
              </a:defRPr>
            </a:pPr>
            <a:r>
              <a:rPr sz="1500" b="1">
                <a:solidFill>
                  <a:srgbClr val="F4FFF9"/>
                </a:solidFill>
              </a:rPr>
              <a:t>一句话总结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A0A1CF-5058-4810-8089-04B27965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05350"/>
            <a:ext cx="666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6F0E2"/>
                </a:solidFill>
              </a:defRPr>
            </a:pPr>
            <a:r>
              <a:rPr sz="1650" b="0">
                <a:solidFill>
                  <a:srgbClr val="F6F0E2"/>
                </a:solidFill>
              </a:rPr>
              <a:t>SmashMate 用“普通用户入口 + 教练工作台”的双视角设计，把约球、找教练、上课和学员管理串成了一条真正可落地的业务链路。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C9E467-21CB-4229-914E-298DFCC3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67200"/>
            <a:ext cx="9906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0000"/>
            </a:srgbClr>
          </a:solidFill>
          <a:ln xmlns:a="http://schemas.openxmlformats.org/drawingml/2006/main" w="0">
            <a:solidFill>
              <a:srgbClr val="000000">
                <a:alpha val="40000"/>
              </a:srgbClr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E6097E-6ADB-4F87-8050-3B95ECE0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71950"/>
            <a:ext cx="990600" cy="14097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A0F0D"/>
          </a:solidFill>
          <a:ln xmlns:a="http://schemas.openxmlformats.org/drawingml/2006/main" w="0">
            <a:solidFill>
              <a:srgbClr val="2D2D2D"/>
            </a:solidFill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d2c62547fc4a85"/>
          <a:stretch xmlns:a="http://schemas.openxmlformats.org/drawingml/2006/main"/>
        </p:blipFill>
        <p:spPr>
          <a:xfrm xmlns:a="http://schemas.openxmlformats.org/drawingml/2006/main">
            <a:off x="8985898" y="4286250"/>
            <a:ext cx="544803" cy="1181100"/>
          </a:xfrm>
          <a:prstGeom xmlns:a="http://schemas.openxmlformats.org/drawingml/2006/main" prst="round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3AA239-C605-434E-BF94-16C2500A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248150"/>
            <a:ext cx="76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B"/>
          </a:solidFill>
          <a:ln xmlns:a="http://schemas.openxmlformats.org/drawingml/2006/main" w="0">
            <a:solidFill>
              <a:srgbClr val="1B1B1B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2EC016-5DD3-4F37-ABC3-C3223C8C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267200"/>
            <a:ext cx="9906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0000"/>
            </a:srgbClr>
          </a:solidFill>
          <a:ln xmlns:a="http://schemas.openxmlformats.org/drawingml/2006/main" w="0">
            <a:solidFill>
              <a:srgbClr val="000000">
                <a:alpha val="40000"/>
              </a:srgbClr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73B131-3FF6-4E06-8099-0E2B2891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171950"/>
            <a:ext cx="990600" cy="14097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A0F0D"/>
          </a:solidFill>
          <a:ln xmlns:a="http://schemas.openxmlformats.org/drawingml/2006/main" w="0">
            <a:solidFill>
              <a:srgbClr val="2D2D2D"/>
            </a:solidFill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7c63ec18964181"/>
          <a:stretch xmlns:a="http://schemas.openxmlformats.org/drawingml/2006/main"/>
        </p:blipFill>
        <p:spPr>
          <a:xfrm xmlns:a="http://schemas.openxmlformats.org/drawingml/2006/main">
            <a:off x="10166998" y="4286250"/>
            <a:ext cx="544803" cy="1181100"/>
          </a:xfrm>
          <a:prstGeom xmlns:a="http://schemas.openxmlformats.org/drawingml/2006/main" prst="round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236F4B-C942-422F-ADEA-2799EC5F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248150"/>
            <a:ext cx="76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B"/>
          </a:solidFill>
          <a:ln xmlns:a="http://schemas.openxmlformats.org/drawingml/2006/main" w="0">
            <a:solidFill>
              <a:srgbClr val="1B1B1B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5FCCFD-8A29-443B-AF61-18095AEEC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579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7B7A3"/>
                </a:solidFill>
              </a:defRPr>
            </a:pPr>
            <a:r>
              <a:rPr sz="750" b="0">
                <a:solidFill>
                  <a:srgbClr val="87B7A3"/>
                </a:solidFill>
              </a:rPr>
              <a:t>SmashMate · presentation2</a:t>
            </a:r>
          </a:p>
        </p:txBody>
      </p:sp>
    </p:spTree>
    <p:extLst>
      <p:ext uri="{BB962C8B-B14F-4D97-AF65-F5344CB8AC3E}">
        <p14:creationId xmlns:p14="http://schemas.microsoft.com/office/powerpoint/2010/main" val="571433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2026-04-18T05:41:04.5850000Z</dcterms:created>
  <dcterms:modified xsi:type="dcterms:W3CDTF">2026-04-18T05:41:04.5850000Z</dcterms:modified>
</coreProperties>
</file>